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4834" r:id="rId9"/>
    <p:sldId id="263" r:id="rId10"/>
    <p:sldId id="983" r:id="rId11"/>
    <p:sldId id="265" r:id="rId12"/>
    <p:sldId id="267" r:id="rId13"/>
    <p:sldId id="266" r:id="rId14"/>
    <p:sldId id="268" r:id="rId15"/>
    <p:sldId id="269" r:id="rId16"/>
    <p:sldId id="4835" r:id="rId17"/>
    <p:sldId id="48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7AAB3-F70A-42AD-82D8-DC224F64065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1BDA2-00C7-4E33-B11E-2A247E9E3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3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kpx.com/templates/qr4/text-in-circle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762fd04e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8762fd04e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fabb257f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fabb257f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Circle text generator: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https://inkpx.com/templates/qr4/text-in-circle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(copy/paste - don’t download)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Asap - Italic</a:t>
            </a:r>
            <a:r>
              <a:rPr lang="en"/>
              <a:t> (font for Action-to-Data) . . . use default for others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use “fill” or “stroke” only, not both to keep edges cleaner. . . play with bold font to get desired width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…. Use font “size” to lock dimensions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…edit color hex code to match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different paths to get text to flip to bottom half of circle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8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8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8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5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3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9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0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lumn Text">
  <p:cSld name="1-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14"/>
          <p:cNvCxnSpPr/>
          <p:nvPr/>
        </p:nvCxnSpPr>
        <p:spPr>
          <a:xfrm>
            <a:off x="609600" y="275167"/>
            <a:ext cx="0" cy="1043517"/>
          </a:xfrm>
          <a:prstGeom prst="straightConnector1">
            <a:avLst/>
          </a:prstGeom>
          <a:noFill/>
          <a:ln w="41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18196" y="274639"/>
            <a:ext cx="10972800" cy="104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>
                <a:solidFill>
                  <a:srgbClr val="EC222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19150" y="1513192"/>
            <a:ext cx="10971844" cy="450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14"/>
          <p:cNvCxnSpPr/>
          <p:nvPr/>
        </p:nvCxnSpPr>
        <p:spPr>
          <a:xfrm>
            <a:off x="1305984" y="6184900"/>
            <a:ext cx="0" cy="510117"/>
          </a:xfrm>
          <a:prstGeom prst="straightConnector1">
            <a:avLst/>
          </a:prstGeom>
          <a:noFill/>
          <a:ln w="9525" cap="flat" cmpd="sng">
            <a:solidFill>
              <a:srgbClr val="3D302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14"/>
          <p:cNvCxnSpPr/>
          <p:nvPr/>
        </p:nvCxnSpPr>
        <p:spPr>
          <a:xfrm>
            <a:off x="10174816" y="6389683"/>
            <a:ext cx="45931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1600201" y="6390217"/>
            <a:ext cx="6040967" cy="211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10217150" y="6411413"/>
            <a:ext cx="361951" cy="211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5" name="Google Shape;4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5957" y="6036324"/>
            <a:ext cx="445587" cy="658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673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545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19490-57C7-44C6-A80B-21AF9873DC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449CF-75D2-4E5E-B146-64AAA7BC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141233" y="677732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131" y="677732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Service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0790" y="925158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10800000">
            <a:off x="4980790" y="1285538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619947" y="2054711"/>
            <a:ext cx="3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Synchronous, Direct Guidance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41233" y="2755750"/>
            <a:ext cx="1839557" cy="1762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131" y="2755750"/>
            <a:ext cx="1839557" cy="1762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Service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0790" y="3003176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10800000">
            <a:off x="4980790" y="3363556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380589" y="4747730"/>
            <a:ext cx="438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Synchronous, Direct Guidance Conversation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80790" y="3695263"/>
            <a:ext cx="1183341" cy="22590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Right Arrow 21"/>
          <p:cNvSpPr/>
          <p:nvPr/>
        </p:nvSpPr>
        <p:spPr>
          <a:xfrm rot="10800000">
            <a:off x="4980790" y="4055643"/>
            <a:ext cx="1183341" cy="22590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0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141233" y="677732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EHR Radiology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4131" y="683109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Guideline Appropriate Ordering Service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80790" y="925158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4980790" y="1285538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22174" y="2049334"/>
            <a:ext cx="59005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Clinician is placing an order for a diagnostic imaging study</a:t>
            </a:r>
          </a:p>
          <a:p>
            <a:pPr marL="342900" indent="-342900">
              <a:buAutoNum type="arabicPeriod"/>
            </a:pPr>
            <a:r>
              <a:rPr lang="en-US" dirty="0"/>
              <a:t>EHR gathers the appropriate information and issues an assessment request to the Guideline Appropriate Ordering Service</a:t>
            </a:r>
          </a:p>
          <a:p>
            <a:pPr marL="342900" indent="-342900">
              <a:buAutoNum type="arabicPeriod"/>
            </a:pPr>
            <a:r>
              <a:rPr lang="en-US" dirty="0"/>
              <a:t>The service determines the appropriateness of the order and returns the assessment score and relevant guideline</a:t>
            </a:r>
          </a:p>
          <a:p>
            <a:pPr marL="342900" indent="-342900">
              <a:buAutoNum type="arabicPeriod"/>
            </a:pPr>
            <a:r>
              <a:rPr lang="en-US" dirty="0"/>
              <a:t>EHR presents the assessment to the ordering clinician</a:t>
            </a:r>
          </a:p>
        </p:txBody>
      </p:sp>
    </p:spTree>
    <p:extLst>
      <p:ext uri="{BB962C8B-B14F-4D97-AF65-F5344CB8AC3E}">
        <p14:creationId xmlns:p14="http://schemas.microsoft.com/office/powerpoint/2010/main" val="382021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00167" y="2764716"/>
            <a:ext cx="59005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Clinician is placing an order for a diagnostic imaging study</a:t>
            </a:r>
          </a:p>
          <a:p>
            <a:pPr marL="342900" indent="-342900">
              <a:buAutoNum type="arabicPeriod"/>
            </a:pPr>
            <a:r>
              <a:rPr lang="en-US" dirty="0"/>
              <a:t>EHR gathers the appropriate information and issues an assessment request to the Guideline Appropriate Ordering Service</a:t>
            </a:r>
          </a:p>
          <a:p>
            <a:pPr marL="342900" indent="-342900">
              <a:buAutoNum type="arabicPeriod"/>
            </a:pPr>
            <a:r>
              <a:rPr lang="en-US" dirty="0"/>
              <a:t>The service determines the appropriateness of the order and returns the assessment score and relevant guideline</a:t>
            </a:r>
          </a:p>
          <a:p>
            <a:pPr marL="342900" indent="-342900">
              <a:buAutoNum type="arabicPeriod"/>
            </a:pPr>
            <a:r>
              <a:rPr lang="en-US" dirty="0"/>
              <a:t>EHR presents the assessment to the ordering clinician</a:t>
            </a:r>
          </a:p>
          <a:p>
            <a:pPr marL="342900" indent="-342900">
              <a:buAutoNum type="arabicPeriod"/>
            </a:pPr>
            <a:r>
              <a:rPr lang="en-US" dirty="0"/>
              <a:t>If the service indicates that more information is needed to obtain a more accurate assessment, the clinician is prompted to provide the information, and the request is repeated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9110" y="754828"/>
            <a:ext cx="1839557" cy="1762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2008" y="754828"/>
            <a:ext cx="1839557" cy="1762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Service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8667" y="1002254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0800000">
            <a:off x="4808667" y="1362634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8667" y="1694341"/>
            <a:ext cx="1183341" cy="22590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4808667" y="2054721"/>
            <a:ext cx="1183341" cy="225909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59859" y="839096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EHR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74597" y="839095"/>
            <a:ext cx="1839557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Guidance Service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691256" y="1086521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6691256" y="1446901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582757" y="839095"/>
            <a:ext cx="2108499" cy="1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Publish/Subscribe Service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99416" y="1088315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0800000">
            <a:off x="3399416" y="1448695"/>
            <a:ext cx="1183341" cy="2259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13876" y="2207122"/>
            <a:ext cx="704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Asynchronous, Indirect Guidance using Event Publish/Subscribe Service</a:t>
            </a:r>
          </a:p>
        </p:txBody>
      </p:sp>
    </p:spTree>
    <p:extLst>
      <p:ext uri="{BB962C8B-B14F-4D97-AF65-F5344CB8AC3E}">
        <p14:creationId xmlns:p14="http://schemas.microsoft.com/office/powerpoint/2010/main" val="274482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79810" y="4615031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EHR with Internal CDS Engine</a:t>
            </a:r>
          </a:p>
        </p:txBody>
      </p:sp>
      <p:sp>
        <p:nvSpPr>
          <p:cNvPr id="3" name="Flowchart: Multidocument 2"/>
          <p:cNvSpPr/>
          <p:nvPr/>
        </p:nvSpPr>
        <p:spPr>
          <a:xfrm>
            <a:off x="5400338" y="2705546"/>
            <a:ext cx="1065007" cy="1247887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00860" y="4615031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CDS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1910" y="4615031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Health Dataset w/ Analytics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42960" y="4615031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Reporting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9810" y="1229959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EHR and Content Vendors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0859" y="1228165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Hospitals and Institutions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1910" y="1228165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Medical Societies and Associations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2960" y="1228165"/>
            <a:ext cx="1731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Reporting Agencies</a:t>
            </a:r>
          </a:p>
        </p:txBody>
      </p:sp>
      <p:cxnSp>
        <p:nvCxnSpPr>
          <p:cNvPr id="13" name="Straight Arrow Connector 12"/>
          <p:cNvCxnSpPr>
            <a:stCxn id="8" idx="2"/>
            <a:endCxn id="3" idx="0"/>
          </p:cNvCxnSpPr>
          <p:nvPr/>
        </p:nvCxnSpPr>
        <p:spPr>
          <a:xfrm>
            <a:off x="2945801" y="2144359"/>
            <a:ext cx="3060309" cy="5611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2"/>
            <a:endCxn id="3" idx="0"/>
          </p:cNvCxnSpPr>
          <p:nvPr/>
        </p:nvCxnSpPr>
        <p:spPr>
          <a:xfrm>
            <a:off x="5066850" y="2142565"/>
            <a:ext cx="939260" cy="562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2"/>
            <a:endCxn id="3" idx="0"/>
          </p:cNvCxnSpPr>
          <p:nvPr/>
        </p:nvCxnSpPr>
        <p:spPr>
          <a:xfrm flipH="1">
            <a:off x="6006110" y="2142565"/>
            <a:ext cx="1181791" cy="562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2"/>
            <a:endCxn id="3" idx="0"/>
          </p:cNvCxnSpPr>
          <p:nvPr/>
        </p:nvCxnSpPr>
        <p:spPr>
          <a:xfrm flipH="1">
            <a:off x="6006110" y="2142565"/>
            <a:ext cx="3302841" cy="562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3" idx="2"/>
            <a:endCxn id="2" idx="0"/>
          </p:cNvCxnSpPr>
          <p:nvPr/>
        </p:nvCxnSpPr>
        <p:spPr>
          <a:xfrm flipH="1">
            <a:off x="2945801" y="3906175"/>
            <a:ext cx="2912983" cy="708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" idx="2"/>
            <a:endCxn id="5" idx="0"/>
          </p:cNvCxnSpPr>
          <p:nvPr/>
        </p:nvCxnSpPr>
        <p:spPr>
          <a:xfrm flipH="1">
            <a:off x="5066851" y="3906175"/>
            <a:ext cx="791933" cy="708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2"/>
            <a:endCxn id="6" idx="0"/>
          </p:cNvCxnSpPr>
          <p:nvPr/>
        </p:nvCxnSpPr>
        <p:spPr>
          <a:xfrm>
            <a:off x="5858784" y="3906175"/>
            <a:ext cx="1329117" cy="708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3" idx="2"/>
            <a:endCxn id="7" idx="0"/>
          </p:cNvCxnSpPr>
          <p:nvPr/>
        </p:nvCxnSpPr>
        <p:spPr>
          <a:xfrm>
            <a:off x="5858784" y="3906175"/>
            <a:ext cx="3450167" cy="708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53895" y="673270"/>
            <a:ext cx="195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 Producers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6119" y="5815660"/>
            <a:ext cx="2033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Consumers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9810" y="3143942"/>
            <a:ext cx="304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Shareable Knowledge Artifacts</a:t>
            </a:r>
          </a:p>
        </p:txBody>
      </p:sp>
    </p:spTree>
    <p:extLst>
      <p:ext uri="{BB962C8B-B14F-4D97-AF65-F5344CB8AC3E}">
        <p14:creationId xmlns:p14="http://schemas.microsoft.com/office/powerpoint/2010/main" val="32124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0762" y="473336"/>
            <a:ext cx="7680961" cy="5400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0762" y="473336"/>
            <a:ext cx="436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1976" y="946674"/>
            <a:ext cx="7379747" cy="3472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21976" y="94667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7737" y="1398494"/>
            <a:ext cx="7013986" cy="14845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87736" y="1420010"/>
            <a:ext cx="2753957" cy="369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7736" y="3028341"/>
            <a:ext cx="7013987" cy="13913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87736" y="3057871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Stratifiers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11220" y="4559627"/>
            <a:ext cx="7390504" cy="1314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11219" y="4574614"/>
            <a:ext cx="319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Supplemental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1893368"/>
            <a:ext cx="1543722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Pop.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4946" y="1887062"/>
            <a:ext cx="1538344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Denominator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0034" y="1887062"/>
            <a:ext cx="1538344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Denominator Exclusions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2" y="1854789"/>
            <a:ext cx="1538344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3531208"/>
            <a:ext cx="1543722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Range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9568" y="3505631"/>
            <a:ext cx="1543722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5614" y="4982233"/>
            <a:ext cx="1543722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4564" y="4976334"/>
            <a:ext cx="1543722" cy="7763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Deceased</a:t>
            </a:r>
          </a:p>
        </p:txBody>
      </p:sp>
    </p:spTree>
    <p:extLst>
      <p:ext uri="{BB962C8B-B14F-4D97-AF65-F5344CB8AC3E}">
        <p14:creationId xmlns:p14="http://schemas.microsoft.com/office/powerpoint/2010/main" val="362049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451821" y="645458"/>
            <a:ext cx="2216075" cy="2969111"/>
            <a:chOff x="720763" y="473336"/>
            <a:chExt cx="2947596" cy="5400339"/>
          </a:xfrm>
        </p:grpSpPr>
        <p:sp>
          <p:nvSpPr>
            <p:cNvPr id="3" name="Rectangle 2"/>
            <p:cNvSpPr/>
            <p:nvPr/>
          </p:nvSpPr>
          <p:spPr>
            <a:xfrm>
              <a:off x="720763" y="473336"/>
              <a:ext cx="2947596" cy="54003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20763" y="473336"/>
              <a:ext cx="2947596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Measure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21977" y="946674"/>
              <a:ext cx="2646382" cy="34729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1976" y="946673"/>
              <a:ext cx="264638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Population Group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87737" y="1398494"/>
              <a:ext cx="2280621" cy="148455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87737" y="1420009"/>
              <a:ext cx="228062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Populations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387737" y="3028341"/>
              <a:ext cx="2280622" cy="13913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87737" y="3057872"/>
              <a:ext cx="228062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Stratifiers</a:t>
              </a:r>
              <a:endParaRPr lang="en-US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11220" y="4559627"/>
              <a:ext cx="2657138" cy="1314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11219" y="4574614"/>
              <a:ext cx="2657139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Supplemental Data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54480" y="1893368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IP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597971" y="1906802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554480" y="3465490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Age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97971" y="3478924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Gend</a:t>
              </a:r>
              <a:endParaRPr lang="en-US" sz="1200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01271" y="4972976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Gend</a:t>
              </a:r>
              <a:endParaRPr lang="en-US" sz="1200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94560" y="4972974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Dec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983543" y="645458"/>
            <a:ext cx="2216075" cy="2969111"/>
            <a:chOff x="3078480" y="645457"/>
            <a:chExt cx="2216075" cy="2969111"/>
          </a:xfrm>
        </p:grpSpPr>
        <p:grpSp>
          <p:nvGrpSpPr>
            <p:cNvPr id="44" name="Group 43"/>
            <p:cNvGrpSpPr/>
            <p:nvPr/>
          </p:nvGrpSpPr>
          <p:grpSpPr>
            <a:xfrm>
              <a:off x="3078480" y="645457"/>
              <a:ext cx="2216075" cy="2969111"/>
              <a:chOff x="3078480" y="645457"/>
              <a:chExt cx="2216075" cy="2969111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078480" y="645457"/>
                <a:ext cx="2216075" cy="29691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078480" y="645457"/>
                <a:ext cx="22160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MeasureReport</a:t>
                </a:r>
                <a:r>
                  <a:rPr lang="en-US" sz="1200" dirty="0"/>
                  <a:t> - Summary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304940" y="905699"/>
                <a:ext cx="1989615" cy="19094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304939" y="905698"/>
                <a:ext cx="1989615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Population Group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579927" y="1154110"/>
                <a:ext cx="1714627" cy="81621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579927" y="1165939"/>
                <a:ext cx="1714628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Populations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579927" y="2050201"/>
                <a:ext cx="1714628" cy="7649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579927" y="2066437"/>
                <a:ext cx="1714628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Stratifiers</a:t>
                </a:r>
                <a:endParaRPr lang="en-US" sz="1200" dirty="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296853" y="2892103"/>
                <a:ext cx="1997702" cy="7224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3296852" y="2900343"/>
                <a:ext cx="1997702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Supplemental Data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3705289" y="1426192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500</a:t>
                </a:r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4489811" y="1433578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250</a:t>
                </a:r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3705289" y="2290546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4489811" y="2297932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3430976" y="3115980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4224260" y="3103921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3764669" y="2308373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4007235" y="2470091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4536005" y="2334225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4782684" y="2495943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3483545" y="3142279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3730224" y="3303997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4278178" y="3139818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4524857" y="3301536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682175" y="2303960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9881" y="2467118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8725" y="2327060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7189" y="2490218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7088" y="3125522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43619" y="3307895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8199" y="3137885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8357" y="3295305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96976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FC2662-DD98-4B7A-9B1F-56136E83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FBD5-C309-4526-9B37-B97348992ABE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DFF93-8ADF-4D5D-AA2D-219FB695E0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9200" y="274638"/>
            <a:ext cx="10972800" cy="1042987"/>
          </a:xfrm>
        </p:spPr>
        <p:txBody>
          <a:bodyPr/>
          <a:lstStyle/>
          <a:p>
            <a:r>
              <a:rPr lang="en-US" dirty="0"/>
              <a:t>Sharing via Services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D500F0-822E-4887-996D-E0C1B2D3CE16}"/>
              </a:ext>
            </a:extLst>
          </p:cNvPr>
          <p:cNvSpPr/>
          <p:nvPr/>
        </p:nvSpPr>
        <p:spPr>
          <a:xfrm>
            <a:off x="4918039" y="2670585"/>
            <a:ext cx="235592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Terminology Service(s) (e.g. VSAC)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D916B2-B479-4E3C-A4AA-B27FBB73CDD5}"/>
              </a:ext>
            </a:extLst>
          </p:cNvPr>
          <p:cNvSpPr/>
          <p:nvPr/>
        </p:nvSpPr>
        <p:spPr>
          <a:xfrm>
            <a:off x="4918037" y="3880033"/>
            <a:ext cx="235592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Knowledge Repository(s)</a:t>
            </a:r>
          </a:p>
          <a:p>
            <a:pPr algn="ctr"/>
            <a:r>
              <a:rPr lang="en-US" sz="1400" dirty="0"/>
              <a:t>(e.g. CDS Connect)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1695E-59A8-43EB-AF30-1B56D59F1EEB}"/>
              </a:ext>
            </a:extLst>
          </p:cNvPr>
          <p:cNvSpPr txBox="1"/>
          <p:nvPr/>
        </p:nvSpPr>
        <p:spPr>
          <a:xfrm>
            <a:off x="1599871" y="1745960"/>
            <a:ext cx="1653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Authoring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35BF8-FC79-4433-92D6-02912E8CAACD}"/>
              </a:ext>
            </a:extLst>
          </p:cNvPr>
          <p:cNvSpPr txBox="1"/>
          <p:nvPr/>
        </p:nvSpPr>
        <p:spPr>
          <a:xfrm>
            <a:off x="5218995" y="1735726"/>
            <a:ext cx="1754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Publishing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524D0-4BA1-4B76-91BD-72C0E4748682}"/>
              </a:ext>
            </a:extLst>
          </p:cNvPr>
          <p:cNvSpPr txBox="1"/>
          <p:nvPr/>
        </p:nvSpPr>
        <p:spPr>
          <a:xfrm>
            <a:off x="8814079" y="1735726"/>
            <a:ext cx="1739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8B9A0-7AAB-4384-BDF2-6C8591AC7D0A}"/>
              </a:ext>
            </a:extLst>
          </p:cNvPr>
          <p:cNvSpPr/>
          <p:nvPr/>
        </p:nvSpPr>
        <p:spPr>
          <a:xfrm>
            <a:off x="8530913" y="2416673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Decision Support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A4464D-C72D-4CCE-BB4F-B2C5978A7A57}"/>
              </a:ext>
            </a:extLst>
          </p:cNvPr>
          <p:cNvSpPr/>
          <p:nvPr/>
        </p:nvSpPr>
        <p:spPr>
          <a:xfrm>
            <a:off x="8530913" y="3130473"/>
            <a:ext cx="2355923" cy="575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Measure Evaluation Services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648F83-1712-4848-B380-7F6556DFE7E2}"/>
              </a:ext>
            </a:extLst>
          </p:cNvPr>
          <p:cNvSpPr/>
          <p:nvPr/>
        </p:nvSpPr>
        <p:spPr>
          <a:xfrm>
            <a:off x="8530912" y="3880034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EHRs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9F97AF-7308-4D28-B346-6A53506C92E3}"/>
              </a:ext>
            </a:extLst>
          </p:cNvPr>
          <p:cNvSpPr/>
          <p:nvPr/>
        </p:nvSpPr>
        <p:spPr>
          <a:xfrm>
            <a:off x="8530912" y="4617411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SMART Apps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5211D6-5AAD-42BA-9CA8-BCB1331D9B18}"/>
              </a:ext>
            </a:extLst>
          </p:cNvPr>
          <p:cNvSpPr/>
          <p:nvPr/>
        </p:nvSpPr>
        <p:spPr>
          <a:xfrm>
            <a:off x="8530912" y="5354787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Backend Services Applications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4392EB-926E-4EAA-80B6-F90EEF4239E9}"/>
              </a:ext>
            </a:extLst>
          </p:cNvPr>
          <p:cNvSpPr/>
          <p:nvPr/>
        </p:nvSpPr>
        <p:spPr>
          <a:xfrm>
            <a:off x="8530911" y="6092165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...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F281B9-846F-4577-AB5C-39AAE038E0F9}"/>
              </a:ext>
            </a:extLst>
          </p:cNvPr>
          <p:cNvSpPr/>
          <p:nvPr/>
        </p:nvSpPr>
        <p:spPr>
          <a:xfrm>
            <a:off x="1305165" y="2415567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Guideline Development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963F1A-A865-4F93-BCA0-DAC09B46115C}"/>
              </a:ext>
            </a:extLst>
          </p:cNvPr>
          <p:cNvSpPr/>
          <p:nvPr/>
        </p:nvSpPr>
        <p:spPr>
          <a:xfrm>
            <a:off x="1305165" y="3127786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Measure Developers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AD59F0-6C0B-4D05-8FD3-62276AFEB66B}"/>
              </a:ext>
            </a:extLst>
          </p:cNvPr>
          <p:cNvSpPr/>
          <p:nvPr/>
        </p:nvSpPr>
        <p:spPr>
          <a:xfrm>
            <a:off x="1298913" y="3840003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Decision Support Authors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9E13F8-BB7C-4E6E-A8AB-DA7AB30CE925}"/>
              </a:ext>
            </a:extLst>
          </p:cNvPr>
          <p:cNvSpPr/>
          <p:nvPr/>
        </p:nvSpPr>
        <p:spPr>
          <a:xfrm>
            <a:off x="1298913" y="5278378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Professional Societies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914A8F-548D-48A3-91D6-C687965ABBF0}"/>
              </a:ext>
            </a:extLst>
          </p:cNvPr>
          <p:cNvSpPr/>
          <p:nvPr/>
        </p:nvSpPr>
        <p:spPr>
          <a:xfrm>
            <a:off x="1298913" y="4545414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Quality Improvement Agencies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D9A0F9-2FC7-4B76-9FE4-5748BBD0D754}"/>
              </a:ext>
            </a:extLst>
          </p:cNvPr>
          <p:cNvSpPr/>
          <p:nvPr/>
        </p:nvSpPr>
        <p:spPr>
          <a:xfrm>
            <a:off x="1298913" y="5989319"/>
            <a:ext cx="2355923" cy="563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11857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451821" y="645458"/>
            <a:ext cx="2216075" cy="2969111"/>
            <a:chOff x="720763" y="473336"/>
            <a:chExt cx="2947596" cy="5400339"/>
          </a:xfrm>
        </p:grpSpPr>
        <p:sp>
          <p:nvSpPr>
            <p:cNvPr id="3" name="Rectangle 2"/>
            <p:cNvSpPr/>
            <p:nvPr/>
          </p:nvSpPr>
          <p:spPr>
            <a:xfrm>
              <a:off x="720763" y="473336"/>
              <a:ext cx="2947596" cy="54003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20763" y="473336"/>
              <a:ext cx="2947596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Measure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21977" y="946674"/>
              <a:ext cx="2646382" cy="34729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1976" y="946673"/>
              <a:ext cx="264638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Population Group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87737" y="1398494"/>
              <a:ext cx="2280621" cy="148455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87737" y="1420009"/>
              <a:ext cx="228062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Populations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387737" y="3028341"/>
              <a:ext cx="2280622" cy="13913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87737" y="3057872"/>
              <a:ext cx="2280622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Stratifiers</a:t>
              </a:r>
              <a:endParaRPr lang="en-US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11220" y="4559627"/>
              <a:ext cx="2657138" cy="1314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11219" y="4574614"/>
              <a:ext cx="2657139" cy="440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Supplemental Data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54480" y="1893368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IP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597971" y="1906802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554480" y="3465490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Age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597971" y="3478924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Gend</a:t>
              </a:r>
              <a:endParaRPr lang="en-US" sz="1200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01271" y="4972976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Gend</a:t>
              </a:r>
              <a:endParaRPr lang="en-US" sz="1200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94560" y="4972974"/>
              <a:ext cx="876748" cy="7763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Dec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983543" y="645458"/>
            <a:ext cx="2216075" cy="4525706"/>
            <a:chOff x="3078480" y="645457"/>
            <a:chExt cx="2216075" cy="4525706"/>
          </a:xfrm>
        </p:grpSpPr>
        <p:grpSp>
          <p:nvGrpSpPr>
            <p:cNvPr id="54" name="Group 53"/>
            <p:cNvGrpSpPr/>
            <p:nvPr/>
          </p:nvGrpSpPr>
          <p:grpSpPr>
            <a:xfrm>
              <a:off x="3078480" y="645457"/>
              <a:ext cx="2216075" cy="2969111"/>
              <a:chOff x="3078480" y="645457"/>
              <a:chExt cx="2216075" cy="2969111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3078480" y="645457"/>
                <a:ext cx="2216075" cy="2969111"/>
                <a:chOff x="3078480" y="645457"/>
                <a:chExt cx="2216075" cy="2969111"/>
              </a:xfrm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3078480" y="645457"/>
                  <a:ext cx="2216075" cy="296911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078480" y="645457"/>
                  <a:ext cx="22160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/>
                    <a:t>MeasureReport</a:t>
                  </a:r>
                  <a:r>
                    <a:rPr lang="en-US" sz="1200" dirty="0"/>
                    <a:t> - Individual</a:t>
                  </a: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304940" y="905699"/>
                  <a:ext cx="1989615" cy="190944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3304939" y="905698"/>
                  <a:ext cx="1989615" cy="241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Population Group</a:t>
                  </a:r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3579927" y="1154110"/>
                  <a:ext cx="1714627" cy="81621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579927" y="1165939"/>
                  <a:ext cx="1714628" cy="241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Populations</a:t>
                  </a: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3579927" y="2050201"/>
                  <a:ext cx="1714628" cy="7649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3579927" y="2066437"/>
                  <a:ext cx="1714628" cy="241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/>
                    <a:t>Stratifiers</a:t>
                  </a:r>
                  <a:endParaRPr lang="en-US" sz="1200" dirty="0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3296853" y="2892103"/>
                  <a:ext cx="1997702" cy="72246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296852" y="2900343"/>
                  <a:ext cx="1997702" cy="241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Supplemental Data</a:t>
                  </a:r>
                </a:p>
              </p:txBody>
            </p:sp>
            <p:sp>
              <p:nvSpPr>
                <p:cNvPr id="38" name="Rounded Rectangle 37"/>
                <p:cNvSpPr/>
                <p:nvPr/>
              </p:nvSpPr>
              <p:spPr>
                <a:xfrm>
                  <a:off x="3705289" y="142619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1</a:t>
                  </a:r>
                </a:p>
              </p:txBody>
            </p:sp>
            <p:sp>
              <p:nvSpPr>
                <p:cNvPr id="39" name="Rounded Rectangle 38"/>
                <p:cNvSpPr/>
                <p:nvPr/>
              </p:nvSpPr>
              <p:spPr>
                <a:xfrm>
                  <a:off x="4489811" y="1433578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1</a:t>
                  </a:r>
                </a:p>
              </p:txBody>
            </p:sp>
            <p:sp>
              <p:nvSpPr>
                <p:cNvPr id="40" name="Rounded Rectangle 39"/>
                <p:cNvSpPr/>
                <p:nvPr/>
              </p:nvSpPr>
              <p:spPr>
                <a:xfrm>
                  <a:off x="3705289" y="2290546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41" name="Rounded Rectangle 40"/>
                <p:cNvSpPr/>
                <p:nvPr/>
              </p:nvSpPr>
              <p:spPr>
                <a:xfrm>
                  <a:off x="4489811" y="229793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42" name="Rounded Rectangle 41"/>
                <p:cNvSpPr/>
                <p:nvPr/>
              </p:nvSpPr>
              <p:spPr>
                <a:xfrm>
                  <a:off x="3430976" y="3115980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  <p:sp>
              <p:nvSpPr>
                <p:cNvPr id="43" name="Rounded Rectangle 42"/>
                <p:cNvSpPr/>
                <p:nvPr/>
              </p:nvSpPr>
              <p:spPr>
                <a:xfrm>
                  <a:off x="4224260" y="3103921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/>
                </a:p>
              </p:txBody>
            </p:sp>
          </p:grpSp>
          <p:sp>
            <p:nvSpPr>
              <p:cNvPr id="45" name="Oval 44"/>
              <p:cNvSpPr/>
              <p:nvPr/>
            </p:nvSpPr>
            <p:spPr>
              <a:xfrm>
                <a:off x="3760556" y="230837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007235" y="2470091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0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4536005" y="2334225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</a:t>
                </a: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782684" y="249594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0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483545" y="3142279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730224" y="3303997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0</a:t>
                </a: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4278178" y="3139818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0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4524857" y="3301536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</a:t>
                </a:r>
              </a:p>
            </p:txBody>
          </p:sp>
        </p:grpSp>
        <p:sp>
          <p:nvSpPr>
            <p:cNvPr id="55" name="Flowchart: Multidocument 54"/>
            <p:cNvSpPr/>
            <p:nvPr/>
          </p:nvSpPr>
          <p:spPr>
            <a:xfrm>
              <a:off x="3693908" y="4052842"/>
              <a:ext cx="1060704" cy="1118321"/>
            </a:xfrm>
            <a:prstGeom prst="flowChartMultidocumen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Resources</a:t>
              </a:r>
              <a:endParaRPr lang="en-US" dirty="0"/>
            </a:p>
          </p:txBody>
        </p:sp>
        <p:cxnSp>
          <p:nvCxnSpPr>
            <p:cNvPr id="57" name="Straight Arrow Connector 56"/>
            <p:cNvCxnSpPr>
              <a:stCxn id="36" idx="2"/>
              <a:endCxn id="55" idx="0"/>
            </p:cNvCxnSpPr>
            <p:nvPr/>
          </p:nvCxnSpPr>
          <p:spPr>
            <a:xfrm>
              <a:off x="4295704" y="3614568"/>
              <a:ext cx="1529" cy="4382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948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A97A-2CE9-467C-A8FC-84004D3E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Integration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0D6ABF-953A-42F3-BC5B-0C003EBABAB0}"/>
              </a:ext>
            </a:extLst>
          </p:cNvPr>
          <p:cNvSpPr/>
          <p:nvPr/>
        </p:nvSpPr>
        <p:spPr>
          <a:xfrm>
            <a:off x="1156687" y="3477654"/>
            <a:ext cx="1828801" cy="118460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EHR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order-select</a:t>
            </a:r>
          </a:p>
        </p:txBody>
      </p:sp>
      <p:sp>
        <p:nvSpPr>
          <p:cNvPr id="8" name="Flowchart: Multidocument 7">
            <a:extLst>
              <a:ext uri="{FF2B5EF4-FFF2-40B4-BE49-F238E27FC236}">
                <a16:creationId xmlns:a16="http://schemas.microsoft.com/office/drawing/2014/main" id="{EEE428C6-DB47-4CA9-A801-8C595DE9B07D}"/>
              </a:ext>
            </a:extLst>
          </p:cNvPr>
          <p:cNvSpPr/>
          <p:nvPr/>
        </p:nvSpPr>
        <p:spPr>
          <a:xfrm>
            <a:off x="3471864" y="2704545"/>
            <a:ext cx="585787" cy="657225"/>
          </a:xfrm>
          <a:prstGeom prst="flowChartMulti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5D37141-C1B0-4F4A-9399-789CE5B21E57}"/>
              </a:ext>
            </a:extLst>
          </p:cNvPr>
          <p:cNvSpPr/>
          <p:nvPr/>
        </p:nvSpPr>
        <p:spPr>
          <a:xfrm>
            <a:off x="3278981" y="3494894"/>
            <a:ext cx="1107282" cy="27781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BAE0A-ABE2-4996-8B6D-4E412A1004C7}"/>
              </a:ext>
            </a:extLst>
          </p:cNvPr>
          <p:cNvSpPr/>
          <p:nvPr/>
        </p:nvSpPr>
        <p:spPr>
          <a:xfrm>
            <a:off x="5286376" y="1919288"/>
            <a:ext cx="5710237" cy="4281487"/>
          </a:xfrm>
          <a:prstGeom prst="roundRect">
            <a:avLst>
              <a:gd name="adj" fmla="val 765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B6207-95EA-4D8D-A9AD-B96F228EE367}"/>
              </a:ext>
            </a:extLst>
          </p:cNvPr>
          <p:cNvSpPr txBox="1"/>
          <p:nvPr/>
        </p:nvSpPr>
        <p:spPr>
          <a:xfrm>
            <a:off x="6429376" y="1471613"/>
            <a:ext cx="349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Clinical Reasoning Implementation</a:t>
            </a:r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81B0C00D-E673-4FA1-ABBD-CF882E7D0D7E}"/>
              </a:ext>
            </a:extLst>
          </p:cNvPr>
          <p:cNvSpPr/>
          <p:nvPr/>
        </p:nvSpPr>
        <p:spPr>
          <a:xfrm>
            <a:off x="6697872" y="2791783"/>
            <a:ext cx="528638" cy="62865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427117-F85D-401A-81AF-2339E6B5C595}"/>
              </a:ext>
            </a:extLst>
          </p:cNvPr>
          <p:cNvSpPr txBox="1"/>
          <p:nvPr/>
        </p:nvSpPr>
        <p:spPr>
          <a:xfrm>
            <a:off x="6271628" y="2422451"/>
            <a:ext cx="155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PlanDefinition</a:t>
            </a:r>
            <a:endParaRPr lang="en-US" b="1" dirty="0"/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3EE19766-AA0B-4EA6-A031-4A62671F2502}"/>
              </a:ext>
            </a:extLst>
          </p:cNvPr>
          <p:cNvSpPr/>
          <p:nvPr/>
        </p:nvSpPr>
        <p:spPr>
          <a:xfrm>
            <a:off x="8648178" y="2602132"/>
            <a:ext cx="528638" cy="62865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398B25E8-8B24-4BCA-B0D9-CDBC5BB739C6}"/>
              </a:ext>
            </a:extLst>
          </p:cNvPr>
          <p:cNvSpPr/>
          <p:nvPr/>
        </p:nvSpPr>
        <p:spPr>
          <a:xfrm>
            <a:off x="8730331" y="2679402"/>
            <a:ext cx="528638" cy="628650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4897F0-87A3-4F7D-8B78-DC6FE14435D4}"/>
              </a:ext>
            </a:extLst>
          </p:cNvPr>
          <p:cNvSpPr txBox="1"/>
          <p:nvPr/>
        </p:nvSpPr>
        <p:spPr>
          <a:xfrm>
            <a:off x="8290162" y="2238137"/>
            <a:ext cx="142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CQL Libraries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F847C9-777F-4540-B9BA-65DD98353492}"/>
              </a:ext>
            </a:extLst>
          </p:cNvPr>
          <p:cNvSpPr/>
          <p:nvPr/>
        </p:nvSpPr>
        <p:spPr>
          <a:xfrm>
            <a:off x="8226279" y="3622135"/>
            <a:ext cx="1274287" cy="8956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$apply operation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6895A4-6465-4DD2-9599-5F7FFF6F1B0E}"/>
              </a:ext>
            </a:extLst>
          </p:cNvPr>
          <p:cNvSpPr/>
          <p:nvPr/>
        </p:nvSpPr>
        <p:spPr>
          <a:xfrm>
            <a:off x="4479132" y="3871432"/>
            <a:ext cx="1614488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CDS Hooks API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2AA8393-0F48-4EA0-90A4-645755181D52}"/>
              </a:ext>
            </a:extLst>
          </p:cNvPr>
          <p:cNvSpPr/>
          <p:nvPr/>
        </p:nvSpPr>
        <p:spPr>
          <a:xfrm rot="10800000">
            <a:off x="3278981" y="4341896"/>
            <a:ext cx="1107282" cy="27781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DEFC4F3D-1A57-4CA3-AA34-4BECDEC7137E}"/>
              </a:ext>
            </a:extLst>
          </p:cNvPr>
          <p:cNvSpPr/>
          <p:nvPr/>
        </p:nvSpPr>
        <p:spPr>
          <a:xfrm>
            <a:off x="3500438" y="4874573"/>
            <a:ext cx="528638" cy="62865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3D4B95-7290-476F-8895-967741A93490}"/>
              </a:ext>
            </a:extLst>
          </p:cNvPr>
          <p:cNvSpPr txBox="1"/>
          <p:nvPr/>
        </p:nvSpPr>
        <p:spPr>
          <a:xfrm>
            <a:off x="2992465" y="2063897"/>
            <a:ext cx="1757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CDS Hooks Request with Patient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0100BD-640C-4B7A-BC17-0036100050CF}"/>
              </a:ext>
            </a:extLst>
          </p:cNvPr>
          <p:cNvSpPr txBox="1"/>
          <p:nvPr/>
        </p:nvSpPr>
        <p:spPr>
          <a:xfrm>
            <a:off x="2885992" y="5649960"/>
            <a:ext cx="1757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CDS Hooks Response</a:t>
            </a:r>
          </a:p>
        </p:txBody>
      </p: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874EAF7C-C08A-4044-9888-FA4E514638E5}"/>
              </a:ext>
            </a:extLst>
          </p:cNvPr>
          <p:cNvSpPr/>
          <p:nvPr/>
        </p:nvSpPr>
        <p:spPr>
          <a:xfrm>
            <a:off x="6697872" y="4725382"/>
            <a:ext cx="528638" cy="62865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5CE2A9-8456-4D13-95AF-FE8513A67127}"/>
              </a:ext>
            </a:extLst>
          </p:cNvPr>
          <p:cNvSpPr txBox="1"/>
          <p:nvPr/>
        </p:nvSpPr>
        <p:spPr>
          <a:xfrm>
            <a:off x="6366681" y="5392131"/>
            <a:ext cx="1326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CarePlan</a:t>
            </a:r>
            <a:r>
              <a:rPr lang="en-US" sz="1400" b="1" dirty="0"/>
              <a:t> with </a:t>
            </a:r>
            <a:r>
              <a:rPr lang="en-US" sz="1400" b="1" dirty="0" err="1"/>
              <a:t>RequestGroup</a:t>
            </a:r>
            <a:endParaRPr lang="en-US" sz="1400" b="1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8348890-E946-4090-8E26-89C2863C5066}"/>
              </a:ext>
            </a:extLst>
          </p:cNvPr>
          <p:cNvSpPr/>
          <p:nvPr/>
        </p:nvSpPr>
        <p:spPr>
          <a:xfrm>
            <a:off x="6476143" y="3657600"/>
            <a:ext cx="1107282" cy="27781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B7696F5-47E1-45CB-A1DA-FA3C7217BCCD}"/>
              </a:ext>
            </a:extLst>
          </p:cNvPr>
          <p:cNvSpPr/>
          <p:nvPr/>
        </p:nvSpPr>
        <p:spPr>
          <a:xfrm rot="10800000">
            <a:off x="6476143" y="4118342"/>
            <a:ext cx="1107282" cy="27781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0B6B3DB-E20A-4F70-8BE5-7F337262BD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17" y="2638806"/>
            <a:ext cx="628650" cy="62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3FF5EB-CD43-473E-824A-9303E1430D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590" y="4781896"/>
            <a:ext cx="582680" cy="58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38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1961567" y="516366"/>
            <a:ext cx="2216075" cy="2969111"/>
            <a:chOff x="3078480" y="645457"/>
            <a:chExt cx="2216075" cy="2969111"/>
          </a:xfrm>
        </p:grpSpPr>
        <p:grpSp>
          <p:nvGrpSpPr>
            <p:cNvPr id="44" name="Group 43"/>
            <p:cNvGrpSpPr/>
            <p:nvPr/>
          </p:nvGrpSpPr>
          <p:grpSpPr>
            <a:xfrm>
              <a:off x="3078480" y="645457"/>
              <a:ext cx="2216075" cy="2969111"/>
              <a:chOff x="3078480" y="645457"/>
              <a:chExt cx="2216075" cy="2969111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078480" y="645457"/>
                <a:ext cx="2216075" cy="29691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078480" y="645457"/>
                <a:ext cx="22160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MeasureReport</a:t>
                </a:r>
                <a:r>
                  <a:rPr lang="en-US" sz="1200" dirty="0"/>
                  <a:t> – Patient-Listing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304940" y="905699"/>
                <a:ext cx="1989615" cy="19094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304939" y="905698"/>
                <a:ext cx="1989615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Population Group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579927" y="1154110"/>
                <a:ext cx="1714627" cy="81621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579927" y="1165939"/>
                <a:ext cx="1714628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Populations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579927" y="2050201"/>
                <a:ext cx="1714628" cy="7649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579927" y="2066437"/>
                <a:ext cx="1714628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Stratifiers</a:t>
                </a:r>
                <a:endParaRPr lang="en-US" sz="1200" dirty="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296853" y="2892103"/>
                <a:ext cx="1997702" cy="7224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3296852" y="2900343"/>
                <a:ext cx="1997702" cy="241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Supplemental Data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3705289" y="1426192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500</a:t>
                </a:r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4489811" y="1433578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250</a:t>
                </a:r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3705289" y="2290546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4489811" y="2297932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3430976" y="3115980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4224260" y="3103921"/>
                <a:ext cx="659161" cy="426843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3764669" y="2308373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4007235" y="2470091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4536005" y="2334225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4782684" y="2495943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3483545" y="3142279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3730224" y="3303997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4278178" y="3139818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4524857" y="3301536"/>
              <a:ext cx="329581" cy="20298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660199" y="2174868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7905" y="2338026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6749" y="2197968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5213" y="2361126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5112" y="2996430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1643" y="3178803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6223" y="3008793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6381" y="3166213"/>
            <a:ext cx="3765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500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5157452" y="3313342"/>
            <a:ext cx="1317268" cy="2880992"/>
            <a:chOff x="3078480" y="645457"/>
            <a:chExt cx="2216075" cy="4525704"/>
          </a:xfrm>
        </p:grpSpPr>
        <p:grpSp>
          <p:nvGrpSpPr>
            <p:cNvPr id="57" name="Group 56"/>
            <p:cNvGrpSpPr/>
            <p:nvPr/>
          </p:nvGrpSpPr>
          <p:grpSpPr>
            <a:xfrm>
              <a:off x="3078480" y="645457"/>
              <a:ext cx="2216075" cy="2969111"/>
              <a:chOff x="3078480" y="645457"/>
              <a:chExt cx="2216075" cy="2969111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3078480" y="645457"/>
                <a:ext cx="2216075" cy="2969111"/>
                <a:chOff x="3078480" y="645457"/>
                <a:chExt cx="2216075" cy="2969111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3078480" y="645457"/>
                  <a:ext cx="2216075" cy="296911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3078480" y="645457"/>
                  <a:ext cx="2216075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 err="1"/>
                    <a:t>MeasureReport</a:t>
                  </a:r>
                  <a:r>
                    <a:rPr lang="en-US" sz="700" dirty="0"/>
                    <a:t> - Individual</a:t>
                  </a:r>
                </a:p>
              </p:txBody>
            </p:sp>
            <p:sp>
              <p:nvSpPr>
                <p:cNvPr id="77" name="Rectangle 76"/>
                <p:cNvSpPr/>
                <p:nvPr/>
              </p:nvSpPr>
              <p:spPr>
                <a:xfrm>
                  <a:off x="3304940" y="905699"/>
                  <a:ext cx="1989615" cy="190944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3304940" y="905698"/>
                  <a:ext cx="1989615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Population Group</a:t>
                  </a: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3579927" y="1154110"/>
                  <a:ext cx="1714627" cy="81621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3579928" y="1165940"/>
                  <a:ext cx="1714627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Populations</a:t>
                  </a:r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3579927" y="2050201"/>
                  <a:ext cx="1714628" cy="7649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>
                  <a:off x="3579928" y="2066436"/>
                  <a:ext cx="1714627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 err="1"/>
                    <a:t>Stratifiers</a:t>
                  </a:r>
                  <a:endParaRPr lang="en-US" sz="700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3296853" y="2892103"/>
                  <a:ext cx="1997702" cy="72246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3296853" y="2900343"/>
                  <a:ext cx="1997702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Supplemental Data</a:t>
                  </a:r>
                </a:p>
              </p:txBody>
            </p:sp>
            <p:sp>
              <p:nvSpPr>
                <p:cNvPr id="85" name="Rounded Rectangle 84"/>
                <p:cNvSpPr/>
                <p:nvPr/>
              </p:nvSpPr>
              <p:spPr>
                <a:xfrm>
                  <a:off x="3705289" y="142619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/>
                    <a:t>1</a:t>
                  </a:r>
                </a:p>
              </p:txBody>
            </p:sp>
            <p:sp>
              <p:nvSpPr>
                <p:cNvPr id="86" name="Rounded Rectangle 85"/>
                <p:cNvSpPr/>
                <p:nvPr/>
              </p:nvSpPr>
              <p:spPr>
                <a:xfrm>
                  <a:off x="4489811" y="1433578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/>
                    <a:t>1</a:t>
                  </a:r>
                </a:p>
              </p:txBody>
            </p:sp>
            <p:sp>
              <p:nvSpPr>
                <p:cNvPr id="87" name="Rounded Rectangle 86"/>
                <p:cNvSpPr/>
                <p:nvPr/>
              </p:nvSpPr>
              <p:spPr>
                <a:xfrm>
                  <a:off x="3705289" y="2290546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88" name="Rounded Rectangle 87"/>
                <p:cNvSpPr/>
                <p:nvPr/>
              </p:nvSpPr>
              <p:spPr>
                <a:xfrm>
                  <a:off x="4489811" y="229793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89" name="Rounded Rectangle 88"/>
                <p:cNvSpPr/>
                <p:nvPr/>
              </p:nvSpPr>
              <p:spPr>
                <a:xfrm>
                  <a:off x="3430976" y="3115980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90" name="Rounded Rectangle 89"/>
                <p:cNvSpPr/>
                <p:nvPr/>
              </p:nvSpPr>
              <p:spPr>
                <a:xfrm>
                  <a:off x="4224260" y="3103921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</p:grpSp>
          <p:sp>
            <p:nvSpPr>
              <p:cNvPr id="67" name="Oval 66"/>
              <p:cNvSpPr/>
              <p:nvPr/>
            </p:nvSpPr>
            <p:spPr>
              <a:xfrm>
                <a:off x="3760556" y="230837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4007235" y="2470091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4536005" y="2334225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4782684" y="249594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3483545" y="3142279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3730224" y="3303997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4278178" y="3139818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4524857" y="3301536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</p:grpSp>
        <p:sp>
          <p:nvSpPr>
            <p:cNvPr id="64" name="Flowchart: Multidocument 63"/>
            <p:cNvSpPr/>
            <p:nvPr/>
          </p:nvSpPr>
          <p:spPr>
            <a:xfrm>
              <a:off x="3638421" y="4052841"/>
              <a:ext cx="1171678" cy="1118320"/>
            </a:xfrm>
            <a:prstGeom prst="flowChartMultidocumen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Resources</a:t>
              </a:r>
              <a:endParaRPr lang="en-US" sz="1000" dirty="0"/>
            </a:p>
          </p:txBody>
        </p:sp>
        <p:cxnSp>
          <p:nvCxnSpPr>
            <p:cNvPr id="65" name="Straight Arrow Connector 64"/>
            <p:cNvCxnSpPr>
              <a:stCxn id="83" idx="2"/>
              <a:endCxn id="64" idx="0"/>
            </p:cNvCxnSpPr>
            <p:nvPr/>
          </p:nvCxnSpPr>
          <p:spPr>
            <a:xfrm>
              <a:off x="4295704" y="3614567"/>
              <a:ext cx="9164" cy="438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6621035" y="3301373"/>
            <a:ext cx="1317268" cy="2880992"/>
            <a:chOff x="3078480" y="645457"/>
            <a:chExt cx="2216075" cy="4525704"/>
          </a:xfrm>
        </p:grpSpPr>
        <p:grpSp>
          <p:nvGrpSpPr>
            <p:cNvPr id="121" name="Group 120"/>
            <p:cNvGrpSpPr/>
            <p:nvPr/>
          </p:nvGrpSpPr>
          <p:grpSpPr>
            <a:xfrm>
              <a:off x="3078480" y="645457"/>
              <a:ext cx="2216075" cy="2969111"/>
              <a:chOff x="3078480" y="645457"/>
              <a:chExt cx="2216075" cy="2969111"/>
            </a:xfrm>
          </p:grpSpPr>
          <p:grpSp>
            <p:nvGrpSpPr>
              <p:cNvPr id="124" name="Group 123"/>
              <p:cNvGrpSpPr/>
              <p:nvPr/>
            </p:nvGrpSpPr>
            <p:grpSpPr>
              <a:xfrm>
                <a:off x="3078480" y="645457"/>
                <a:ext cx="2216075" cy="2969111"/>
                <a:chOff x="3078480" y="645457"/>
                <a:chExt cx="2216075" cy="2969111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3078480" y="645457"/>
                  <a:ext cx="2216075" cy="296911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3078480" y="645457"/>
                  <a:ext cx="2216075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 err="1"/>
                    <a:t>MeasureReport</a:t>
                  </a:r>
                  <a:r>
                    <a:rPr lang="en-US" sz="700" dirty="0"/>
                    <a:t> - Individual</a:t>
                  </a:r>
                </a:p>
              </p:txBody>
            </p:sp>
            <p:sp>
              <p:nvSpPr>
                <p:cNvPr id="135" name="Rectangle 134"/>
                <p:cNvSpPr/>
                <p:nvPr/>
              </p:nvSpPr>
              <p:spPr>
                <a:xfrm>
                  <a:off x="3304940" y="905699"/>
                  <a:ext cx="1989615" cy="190944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3304940" y="905698"/>
                  <a:ext cx="1989615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Population Group</a:t>
                  </a:r>
                </a:p>
              </p:txBody>
            </p:sp>
            <p:sp>
              <p:nvSpPr>
                <p:cNvPr id="137" name="Rectangle 136"/>
                <p:cNvSpPr/>
                <p:nvPr/>
              </p:nvSpPr>
              <p:spPr>
                <a:xfrm>
                  <a:off x="3579927" y="1154110"/>
                  <a:ext cx="1714627" cy="81621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138" name="TextBox 137"/>
                <p:cNvSpPr txBox="1"/>
                <p:nvPr/>
              </p:nvSpPr>
              <p:spPr>
                <a:xfrm>
                  <a:off x="3579928" y="1165940"/>
                  <a:ext cx="1714627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Populations</a:t>
                  </a:r>
                </a:p>
              </p:txBody>
            </p:sp>
            <p:sp>
              <p:nvSpPr>
                <p:cNvPr id="139" name="Rectangle 138"/>
                <p:cNvSpPr/>
                <p:nvPr/>
              </p:nvSpPr>
              <p:spPr>
                <a:xfrm>
                  <a:off x="3579927" y="2050201"/>
                  <a:ext cx="1714628" cy="7649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140" name="TextBox 139"/>
                <p:cNvSpPr txBox="1"/>
                <p:nvPr/>
              </p:nvSpPr>
              <p:spPr>
                <a:xfrm>
                  <a:off x="3579928" y="2066436"/>
                  <a:ext cx="1714627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 err="1"/>
                    <a:t>Stratifiers</a:t>
                  </a:r>
                  <a:endParaRPr lang="en-US" sz="700" dirty="0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3296853" y="2892103"/>
                  <a:ext cx="1997702" cy="72246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/>
                </a:p>
              </p:txBody>
            </p:sp>
            <p:sp>
              <p:nvSpPr>
                <p:cNvPr id="142" name="TextBox 141"/>
                <p:cNvSpPr txBox="1"/>
                <p:nvPr/>
              </p:nvSpPr>
              <p:spPr>
                <a:xfrm>
                  <a:off x="3296853" y="2900343"/>
                  <a:ext cx="1997702" cy="3142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dirty="0"/>
                    <a:t>Supplemental Data</a:t>
                  </a:r>
                </a:p>
              </p:txBody>
            </p:sp>
            <p:sp>
              <p:nvSpPr>
                <p:cNvPr id="143" name="Rounded Rectangle 142"/>
                <p:cNvSpPr/>
                <p:nvPr/>
              </p:nvSpPr>
              <p:spPr>
                <a:xfrm>
                  <a:off x="3705289" y="142619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/>
                    <a:t>1</a:t>
                  </a:r>
                </a:p>
              </p:txBody>
            </p:sp>
            <p:sp>
              <p:nvSpPr>
                <p:cNvPr id="144" name="Rounded Rectangle 143"/>
                <p:cNvSpPr/>
                <p:nvPr/>
              </p:nvSpPr>
              <p:spPr>
                <a:xfrm>
                  <a:off x="4489811" y="1433578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700" dirty="0"/>
                    <a:t>1</a:t>
                  </a:r>
                </a:p>
              </p:txBody>
            </p:sp>
            <p:sp>
              <p:nvSpPr>
                <p:cNvPr id="145" name="Rounded Rectangle 144"/>
                <p:cNvSpPr/>
                <p:nvPr/>
              </p:nvSpPr>
              <p:spPr>
                <a:xfrm>
                  <a:off x="3705289" y="2290546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146" name="Rounded Rectangle 145"/>
                <p:cNvSpPr/>
                <p:nvPr/>
              </p:nvSpPr>
              <p:spPr>
                <a:xfrm>
                  <a:off x="4489811" y="2297932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147" name="Rounded Rectangle 146"/>
                <p:cNvSpPr/>
                <p:nvPr/>
              </p:nvSpPr>
              <p:spPr>
                <a:xfrm>
                  <a:off x="3430976" y="3115980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sp>
              <p:nvSpPr>
                <p:cNvPr id="148" name="Rounded Rectangle 147"/>
                <p:cNvSpPr/>
                <p:nvPr/>
              </p:nvSpPr>
              <p:spPr>
                <a:xfrm>
                  <a:off x="4224260" y="3103921"/>
                  <a:ext cx="659161" cy="426843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</p:grpSp>
          <p:sp>
            <p:nvSpPr>
              <p:cNvPr id="125" name="Oval 124"/>
              <p:cNvSpPr/>
              <p:nvPr/>
            </p:nvSpPr>
            <p:spPr>
              <a:xfrm>
                <a:off x="3760556" y="230837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4007235" y="2470091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4536005" y="2334225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4782684" y="2495943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3483545" y="3142279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3730224" y="3303997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4278178" y="3139818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0</a:t>
                </a:r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4524857" y="3301536"/>
                <a:ext cx="329581" cy="2029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/>
                  <a:t>1</a:t>
                </a:r>
              </a:p>
            </p:txBody>
          </p:sp>
        </p:grpSp>
        <p:sp>
          <p:nvSpPr>
            <p:cNvPr id="122" name="Flowchart: Multidocument 121"/>
            <p:cNvSpPr/>
            <p:nvPr/>
          </p:nvSpPr>
          <p:spPr>
            <a:xfrm>
              <a:off x="3638421" y="4052841"/>
              <a:ext cx="1171678" cy="1118320"/>
            </a:xfrm>
            <a:prstGeom prst="flowChartMultidocumen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Resources</a:t>
              </a:r>
              <a:endParaRPr lang="en-US" sz="1000" dirty="0"/>
            </a:p>
          </p:txBody>
        </p:sp>
        <p:cxnSp>
          <p:nvCxnSpPr>
            <p:cNvPr id="123" name="Straight Arrow Connector 122"/>
            <p:cNvCxnSpPr>
              <a:stCxn id="141" idx="2"/>
              <a:endCxn id="122" idx="0"/>
            </p:cNvCxnSpPr>
            <p:nvPr/>
          </p:nvCxnSpPr>
          <p:spPr>
            <a:xfrm>
              <a:off x="4295704" y="3614567"/>
              <a:ext cx="9164" cy="438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8101760" y="3959162"/>
            <a:ext cx="94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10296" y="1348316"/>
            <a:ext cx="844174" cy="378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IPOP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77933" y="1343126"/>
            <a:ext cx="844174" cy="3904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510485" y="2191309"/>
            <a:ext cx="844174" cy="3396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Male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36856" y="1334641"/>
            <a:ext cx="844174" cy="3904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73374" y="2204163"/>
            <a:ext cx="844174" cy="3396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Female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64335" y="1283983"/>
            <a:ext cx="94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81030" y="2062596"/>
            <a:ext cx="94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...</a:t>
            </a:r>
          </a:p>
        </p:txBody>
      </p:sp>
      <p:cxnSp>
        <p:nvCxnSpPr>
          <p:cNvPr id="46" name="Elbow Connector 45"/>
          <p:cNvCxnSpPr>
            <a:stCxn id="33" idx="3"/>
            <a:endCxn id="18" idx="0"/>
          </p:cNvCxnSpPr>
          <p:nvPr/>
        </p:nvCxnSpPr>
        <p:spPr>
          <a:xfrm>
            <a:off x="4177642" y="1157816"/>
            <a:ext cx="1054741" cy="1905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/>
          <p:cNvCxnSpPr>
            <a:stCxn id="33" idx="3"/>
            <a:endCxn id="149" idx="0"/>
          </p:cNvCxnSpPr>
          <p:nvPr/>
        </p:nvCxnSpPr>
        <p:spPr>
          <a:xfrm>
            <a:off x="4177642" y="1157816"/>
            <a:ext cx="2422378" cy="185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158"/>
          <p:cNvCxnSpPr>
            <a:stCxn id="33" idx="3"/>
            <a:endCxn id="151" idx="0"/>
          </p:cNvCxnSpPr>
          <p:nvPr/>
        </p:nvCxnSpPr>
        <p:spPr>
          <a:xfrm>
            <a:off x="4177642" y="1157816"/>
            <a:ext cx="3781301" cy="1768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/>
          <p:cNvCxnSpPr>
            <a:stCxn id="18" idx="2"/>
            <a:endCxn id="76" idx="0"/>
          </p:cNvCxnSpPr>
          <p:nvPr/>
        </p:nvCxnSpPr>
        <p:spPr>
          <a:xfrm rot="16200000" flipH="1">
            <a:off x="4730941" y="2228197"/>
            <a:ext cx="1586586" cy="583703"/>
          </a:xfrm>
          <a:prstGeom prst="bentConnector3">
            <a:avLst>
              <a:gd name="adj1" fmla="val 839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Elbow Connector 205"/>
          <p:cNvCxnSpPr>
            <a:stCxn id="18" idx="2"/>
            <a:endCxn id="134" idx="0"/>
          </p:cNvCxnSpPr>
          <p:nvPr/>
        </p:nvCxnSpPr>
        <p:spPr>
          <a:xfrm rot="16200000" flipH="1">
            <a:off x="5468718" y="1490421"/>
            <a:ext cx="1574617" cy="2047286"/>
          </a:xfrm>
          <a:prstGeom prst="bentConnector3">
            <a:avLst>
              <a:gd name="adj1" fmla="val 766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Elbow Connector 208"/>
          <p:cNvCxnSpPr>
            <a:stCxn id="151" idx="2"/>
          </p:cNvCxnSpPr>
          <p:nvPr/>
        </p:nvCxnSpPr>
        <p:spPr>
          <a:xfrm rot="5400000">
            <a:off x="7013192" y="2336525"/>
            <a:ext cx="1557226" cy="334277"/>
          </a:xfrm>
          <a:prstGeom prst="bentConnector3">
            <a:avLst>
              <a:gd name="adj1" fmla="val 66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/>
          <p:cNvCxnSpPr>
            <a:stCxn id="152" idx="2"/>
          </p:cNvCxnSpPr>
          <p:nvPr/>
        </p:nvCxnSpPr>
        <p:spPr>
          <a:xfrm flipH="1">
            <a:off x="7385435" y="2543797"/>
            <a:ext cx="10026" cy="76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>
            <a:stCxn id="150" idx="2"/>
          </p:cNvCxnSpPr>
          <p:nvPr/>
        </p:nvCxnSpPr>
        <p:spPr>
          <a:xfrm flipH="1">
            <a:off x="5921852" y="2530943"/>
            <a:ext cx="10720" cy="770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Elbow Connector 216"/>
          <p:cNvCxnSpPr>
            <a:stCxn id="149" idx="2"/>
          </p:cNvCxnSpPr>
          <p:nvPr/>
        </p:nvCxnSpPr>
        <p:spPr>
          <a:xfrm rot="5400000">
            <a:off x="5603350" y="2308119"/>
            <a:ext cx="1571254" cy="422087"/>
          </a:xfrm>
          <a:prstGeom prst="bentConnector3">
            <a:avLst>
              <a:gd name="adj1" fmla="val 595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>
            <a:stCxn id="149" idx="2"/>
          </p:cNvCxnSpPr>
          <p:nvPr/>
        </p:nvCxnSpPr>
        <p:spPr>
          <a:xfrm rot="16200000" flipH="1">
            <a:off x="6013917" y="2319638"/>
            <a:ext cx="1571254" cy="399048"/>
          </a:xfrm>
          <a:prstGeom prst="bentConnector3">
            <a:avLst>
              <a:gd name="adj1" fmla="val 595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Elbow Connector 241"/>
          <p:cNvCxnSpPr>
            <a:stCxn id="35" idx="3"/>
            <a:endCxn id="150" idx="0"/>
          </p:cNvCxnSpPr>
          <p:nvPr/>
        </p:nvCxnSpPr>
        <p:spPr>
          <a:xfrm>
            <a:off x="4177642" y="2058314"/>
            <a:ext cx="1754930" cy="1329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Elbow Connector 243"/>
          <p:cNvCxnSpPr>
            <a:stCxn id="35" idx="3"/>
            <a:endCxn id="152" idx="0"/>
          </p:cNvCxnSpPr>
          <p:nvPr/>
        </p:nvCxnSpPr>
        <p:spPr>
          <a:xfrm>
            <a:off x="4177642" y="2058314"/>
            <a:ext cx="3217819" cy="145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19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/>
          <p:cNvSpPr/>
          <p:nvPr/>
        </p:nvSpPr>
        <p:spPr>
          <a:xfrm>
            <a:off x="1086523" y="591670"/>
            <a:ext cx="3238052" cy="3151991"/>
          </a:xfrm>
          <a:prstGeom prst="round1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ingle Corner Rectangle 2"/>
          <p:cNvSpPr/>
          <p:nvPr/>
        </p:nvSpPr>
        <p:spPr>
          <a:xfrm>
            <a:off x="1269403" y="1043492"/>
            <a:ext cx="2883049" cy="2560320"/>
          </a:xfrm>
          <a:prstGeom prst="round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6522" y="591671"/>
            <a:ext cx="223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Knowledge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9403" y="1043492"/>
            <a:ext cx="2775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Components</a:t>
            </a:r>
          </a:p>
        </p:txBody>
      </p:sp>
      <p:sp>
        <p:nvSpPr>
          <p:cNvPr id="6" name="Round Single Corner Rectangle 5"/>
          <p:cNvSpPr/>
          <p:nvPr/>
        </p:nvSpPr>
        <p:spPr>
          <a:xfrm>
            <a:off x="1463041" y="1559859"/>
            <a:ext cx="2506531" cy="516367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Metadata</a:t>
            </a:r>
          </a:p>
        </p:txBody>
      </p:sp>
      <p:sp>
        <p:nvSpPr>
          <p:cNvPr id="10" name="Round Single Corner Rectangle 9"/>
          <p:cNvSpPr/>
          <p:nvPr/>
        </p:nvSpPr>
        <p:spPr>
          <a:xfrm>
            <a:off x="1463040" y="2223261"/>
            <a:ext cx="2506531" cy="516367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</a:t>
            </a:r>
          </a:p>
        </p:txBody>
      </p:sp>
      <p:sp>
        <p:nvSpPr>
          <p:cNvPr id="11" name="Round Single Corner Rectangle 10"/>
          <p:cNvSpPr/>
          <p:nvPr/>
        </p:nvSpPr>
        <p:spPr>
          <a:xfrm>
            <a:off x="1463040" y="2929692"/>
            <a:ext cx="2506531" cy="516367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3296970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1214" y="258184"/>
            <a:ext cx="1323191" cy="47333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53374" y="258184"/>
            <a:ext cx="1323191" cy="4733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64254" y="258184"/>
            <a:ext cx="1323191" cy="473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7294" y="258184"/>
            <a:ext cx="1323191" cy="47333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0334" y="258184"/>
            <a:ext cx="1323191" cy="4733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96693" y="258184"/>
            <a:ext cx="1323191" cy="473336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301214" y="1151122"/>
            <a:ext cx="1828800" cy="3065931"/>
            <a:chOff x="46619" y="1323189"/>
            <a:chExt cx="1828800" cy="3065931"/>
          </a:xfrm>
        </p:grpSpPr>
        <p:sp>
          <p:nvSpPr>
            <p:cNvPr id="7" name="Round Single Corner Rectangle 6"/>
            <p:cNvSpPr/>
            <p:nvPr/>
          </p:nvSpPr>
          <p:spPr>
            <a:xfrm>
              <a:off x="46619" y="1323189"/>
              <a:ext cx="1828800" cy="30659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619" y="13231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Library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72529" y="173557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72528" y="2255501"/>
              <a:ext cx="1323191" cy="47333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Parameters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54601" y="2771890"/>
              <a:ext cx="1323191" cy="473336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54600" y="3290048"/>
              <a:ext cx="1323191" cy="473336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6619" y="4952100"/>
            <a:ext cx="1828800" cy="3065931"/>
            <a:chOff x="2101329" y="1323189"/>
            <a:chExt cx="1828800" cy="3065931"/>
          </a:xfrm>
        </p:grpSpPr>
        <p:sp>
          <p:nvSpPr>
            <p:cNvPr id="11" name="Round Single Corner Rectangle 10"/>
            <p:cNvSpPr/>
            <p:nvPr/>
          </p:nvSpPr>
          <p:spPr>
            <a:xfrm>
              <a:off x="2101329" y="1323189"/>
              <a:ext cx="1828800" cy="30659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01329" y="13231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DSS Module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327239" y="173557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325447" y="2251963"/>
              <a:ext cx="1323191" cy="47333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Parameters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325446" y="2771890"/>
              <a:ext cx="1323191" cy="473336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325445" y="3291817"/>
              <a:ext cx="1323191" cy="473336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Triggers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325444" y="3829733"/>
              <a:ext cx="1323191" cy="473336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Actions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337995" y="1148427"/>
            <a:ext cx="1828800" cy="3042631"/>
            <a:chOff x="4156039" y="1346489"/>
            <a:chExt cx="1828800" cy="3042631"/>
          </a:xfrm>
        </p:grpSpPr>
        <p:sp>
          <p:nvSpPr>
            <p:cNvPr id="14" name="Round Single Corner Rectangle 13"/>
            <p:cNvSpPr/>
            <p:nvPr/>
          </p:nvSpPr>
          <p:spPr>
            <a:xfrm>
              <a:off x="4156039" y="1346489"/>
              <a:ext cx="1828800" cy="30426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56039" y="13464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DS Rule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381948" y="174722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381948" y="2777289"/>
              <a:ext cx="1323191" cy="473336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381948" y="2274332"/>
              <a:ext cx="1323191" cy="473336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Triggers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381947" y="3290048"/>
              <a:ext cx="1323191" cy="473336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Actions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365810" y="1148427"/>
            <a:ext cx="1828800" cy="3065931"/>
            <a:chOff x="6210749" y="1323189"/>
            <a:chExt cx="1828800" cy="3065931"/>
          </a:xfrm>
        </p:grpSpPr>
        <p:sp>
          <p:nvSpPr>
            <p:cNvPr id="17" name="Round Single Corner Rectangle 16"/>
            <p:cNvSpPr/>
            <p:nvPr/>
          </p:nvSpPr>
          <p:spPr>
            <a:xfrm>
              <a:off x="6210749" y="1323189"/>
              <a:ext cx="1828800" cy="30659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10749" y="13231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Doc Template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36659" y="173557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436659" y="2251963"/>
              <a:ext cx="1323191" cy="473336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393625" y="1148426"/>
            <a:ext cx="1828800" cy="3042631"/>
            <a:chOff x="8297732" y="1346489"/>
            <a:chExt cx="1828800" cy="3042631"/>
          </a:xfrm>
        </p:grpSpPr>
        <p:sp>
          <p:nvSpPr>
            <p:cNvPr id="20" name="Round Single Corner Rectangle 19"/>
            <p:cNvSpPr/>
            <p:nvPr/>
          </p:nvSpPr>
          <p:spPr>
            <a:xfrm>
              <a:off x="8297732" y="1346489"/>
              <a:ext cx="1828800" cy="30426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297732" y="13464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Order Set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523642" y="175887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523641" y="2274332"/>
              <a:ext cx="1323191" cy="473336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523640" y="2790699"/>
              <a:ext cx="1323191" cy="473336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Actions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450128" y="1148427"/>
            <a:ext cx="1828800" cy="3065931"/>
            <a:chOff x="10352442" y="1323189"/>
            <a:chExt cx="1828800" cy="3065931"/>
          </a:xfrm>
        </p:grpSpPr>
        <p:sp>
          <p:nvSpPr>
            <p:cNvPr id="23" name="Round Single Corner Rectangle 22"/>
            <p:cNvSpPr/>
            <p:nvPr/>
          </p:nvSpPr>
          <p:spPr>
            <a:xfrm>
              <a:off x="10352442" y="1323189"/>
              <a:ext cx="1828800" cy="3065931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352442" y="1323189"/>
              <a:ext cx="1635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Measure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578352" y="1735574"/>
              <a:ext cx="1323191" cy="4733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Metadata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574767" y="2251963"/>
              <a:ext cx="1323191" cy="473336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0621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1214" y="258184"/>
            <a:ext cx="1323191" cy="47333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1210" y="2710924"/>
            <a:ext cx="1323191" cy="47333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213" y="871369"/>
            <a:ext cx="1323191" cy="4733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212" y="1484554"/>
            <a:ext cx="1323191" cy="47333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211" y="2097739"/>
            <a:ext cx="1323191" cy="4733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10" y="3324109"/>
            <a:ext cx="1323191" cy="473336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19309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08536E-412B-404E-88CC-84D06AC2D0A2}"/>
              </a:ext>
            </a:extLst>
          </p:cNvPr>
          <p:cNvSpPr/>
          <p:nvPr/>
        </p:nvSpPr>
        <p:spPr>
          <a:xfrm>
            <a:off x="1349829" y="2275114"/>
            <a:ext cx="1621971" cy="200148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D8DDCE-5D32-4D8F-895D-E963E4AEDD2D}"/>
              </a:ext>
            </a:extLst>
          </p:cNvPr>
          <p:cNvSpPr/>
          <p:nvPr/>
        </p:nvSpPr>
        <p:spPr>
          <a:xfrm>
            <a:off x="1534886" y="2590800"/>
            <a:ext cx="1240971" cy="1556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2BD22-4B23-4CDE-AD0B-12E6FA773F80}"/>
              </a:ext>
            </a:extLst>
          </p:cNvPr>
          <p:cNvSpPr/>
          <p:nvPr/>
        </p:nvSpPr>
        <p:spPr>
          <a:xfrm>
            <a:off x="1665514" y="2982686"/>
            <a:ext cx="979715" cy="4463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995E3-2293-4DD5-BA6F-7963E4492612}"/>
              </a:ext>
            </a:extLst>
          </p:cNvPr>
          <p:cNvSpPr/>
          <p:nvPr/>
        </p:nvSpPr>
        <p:spPr>
          <a:xfrm>
            <a:off x="1665514" y="3592285"/>
            <a:ext cx="979715" cy="4463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A1A03F-7238-4852-98A6-368C17717848}"/>
              </a:ext>
            </a:extLst>
          </p:cNvPr>
          <p:cNvSpPr/>
          <p:nvPr/>
        </p:nvSpPr>
        <p:spPr>
          <a:xfrm>
            <a:off x="3215424" y="2975752"/>
            <a:ext cx="1455848" cy="446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E8235E-5682-4B3B-BA59-6754001A7D31}"/>
              </a:ext>
            </a:extLst>
          </p:cNvPr>
          <p:cNvSpPr/>
          <p:nvPr/>
        </p:nvSpPr>
        <p:spPr>
          <a:xfrm>
            <a:off x="3215424" y="3585351"/>
            <a:ext cx="1455848" cy="446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8F3A77E-8565-41F2-8BCB-347D55B64FDB}"/>
              </a:ext>
            </a:extLst>
          </p:cNvPr>
          <p:cNvSpPr/>
          <p:nvPr/>
        </p:nvSpPr>
        <p:spPr>
          <a:xfrm>
            <a:off x="4931047" y="3361195"/>
            <a:ext cx="1012372" cy="28847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B01806-1B9E-408A-976F-2C93794E0228}"/>
              </a:ext>
            </a:extLst>
          </p:cNvPr>
          <p:cNvSpPr txBox="1"/>
          <p:nvPr/>
        </p:nvSpPr>
        <p:spPr>
          <a:xfrm>
            <a:off x="1349829" y="2273624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PlanDefinition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6079D1-B488-433E-B0B3-E8260CE15F96}"/>
              </a:ext>
            </a:extLst>
          </p:cNvPr>
          <p:cNvSpPr txBox="1"/>
          <p:nvPr/>
        </p:nvSpPr>
        <p:spPr>
          <a:xfrm>
            <a:off x="1534886" y="2600193"/>
            <a:ext cx="1216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(group)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F634C0-549C-45E3-8EDB-BEAC7178ACFE}"/>
              </a:ext>
            </a:extLst>
          </p:cNvPr>
          <p:cNvSpPr txBox="1"/>
          <p:nvPr/>
        </p:nvSpPr>
        <p:spPr>
          <a:xfrm>
            <a:off x="1603648" y="2942111"/>
            <a:ext cx="112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(item)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0CD6E9-F17B-4154-9304-AEB4CC8EA97F}"/>
              </a:ext>
            </a:extLst>
          </p:cNvPr>
          <p:cNvSpPr txBox="1"/>
          <p:nvPr/>
        </p:nvSpPr>
        <p:spPr>
          <a:xfrm>
            <a:off x="1631001" y="3558144"/>
            <a:ext cx="112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(item)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BE706D-7658-4FBA-8FA7-8EB0084E1498}"/>
              </a:ext>
            </a:extLst>
          </p:cNvPr>
          <p:cNvSpPr txBox="1"/>
          <p:nvPr/>
        </p:nvSpPr>
        <p:spPr>
          <a:xfrm>
            <a:off x="1697397" y="3185795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definition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0C798-3FDE-47BF-BD54-2C762139CEFF}"/>
              </a:ext>
            </a:extLst>
          </p:cNvPr>
          <p:cNvSpPr txBox="1"/>
          <p:nvPr/>
        </p:nvSpPr>
        <p:spPr>
          <a:xfrm>
            <a:off x="1687550" y="3793675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definition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068B62-C80F-4EFD-A627-C80869E555CC}"/>
              </a:ext>
            </a:extLst>
          </p:cNvPr>
          <p:cNvSpPr txBox="1"/>
          <p:nvPr/>
        </p:nvSpPr>
        <p:spPr>
          <a:xfrm>
            <a:off x="3215424" y="3045020"/>
            <a:ext cx="1455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ActivityDefinition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2DA4C1-869D-49F5-AB9A-3755260CFF4E}"/>
              </a:ext>
            </a:extLst>
          </p:cNvPr>
          <p:cNvSpPr txBox="1"/>
          <p:nvPr/>
        </p:nvSpPr>
        <p:spPr>
          <a:xfrm>
            <a:off x="3215424" y="3654619"/>
            <a:ext cx="1455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ActivityDefinition</a:t>
            </a:r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CE3B915-B297-49E6-B9A2-363B1759D62F}"/>
              </a:ext>
            </a:extLst>
          </p:cNvPr>
          <p:cNvSpPr/>
          <p:nvPr/>
        </p:nvSpPr>
        <p:spPr>
          <a:xfrm>
            <a:off x="6185689" y="2273624"/>
            <a:ext cx="1751475" cy="200148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231ABE-339F-472D-A498-A5486AC5DC45}"/>
              </a:ext>
            </a:extLst>
          </p:cNvPr>
          <p:cNvSpPr/>
          <p:nvPr/>
        </p:nvSpPr>
        <p:spPr>
          <a:xfrm>
            <a:off x="6370746" y="2589310"/>
            <a:ext cx="1406570" cy="1556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6C0B47F-A4F9-4A75-A250-B91DAB809D21}"/>
              </a:ext>
            </a:extLst>
          </p:cNvPr>
          <p:cNvSpPr/>
          <p:nvPr/>
        </p:nvSpPr>
        <p:spPr>
          <a:xfrm>
            <a:off x="6501374" y="2981196"/>
            <a:ext cx="1085987" cy="4463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4DF2A93-854B-45C8-9220-F58219E2CB70}"/>
              </a:ext>
            </a:extLst>
          </p:cNvPr>
          <p:cNvSpPr/>
          <p:nvPr/>
        </p:nvSpPr>
        <p:spPr>
          <a:xfrm>
            <a:off x="6501374" y="3590795"/>
            <a:ext cx="1085987" cy="4463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D126D3-7897-4703-BCA3-45086A8037D6}"/>
              </a:ext>
            </a:extLst>
          </p:cNvPr>
          <p:cNvSpPr/>
          <p:nvPr/>
        </p:nvSpPr>
        <p:spPr>
          <a:xfrm>
            <a:off x="8059634" y="2975752"/>
            <a:ext cx="1607875" cy="446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674899-6725-4B2A-B388-986E722C7B6A}"/>
              </a:ext>
            </a:extLst>
          </p:cNvPr>
          <p:cNvSpPr/>
          <p:nvPr/>
        </p:nvSpPr>
        <p:spPr>
          <a:xfrm>
            <a:off x="8054316" y="3585351"/>
            <a:ext cx="1607876" cy="446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219CED-21CF-443B-BFFB-87C1052A02BB}"/>
              </a:ext>
            </a:extLst>
          </p:cNvPr>
          <p:cNvSpPr txBox="1"/>
          <p:nvPr/>
        </p:nvSpPr>
        <p:spPr>
          <a:xfrm>
            <a:off x="6185689" y="2272134"/>
            <a:ext cx="1780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RequestOrchestration</a:t>
            </a:r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12367D-0F0F-4214-96CD-8976A684C8C8}"/>
              </a:ext>
            </a:extLst>
          </p:cNvPr>
          <p:cNvSpPr txBox="1"/>
          <p:nvPr/>
        </p:nvSpPr>
        <p:spPr>
          <a:xfrm>
            <a:off x="6370746" y="2598703"/>
            <a:ext cx="1216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(group)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7A12EA-9712-4CA2-98E5-791CD5A8896F}"/>
              </a:ext>
            </a:extLst>
          </p:cNvPr>
          <p:cNvSpPr txBox="1"/>
          <p:nvPr/>
        </p:nvSpPr>
        <p:spPr>
          <a:xfrm>
            <a:off x="6439508" y="2940621"/>
            <a:ext cx="112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(item)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CC99F-8A8B-42FD-B710-AC69F78A44BE}"/>
              </a:ext>
            </a:extLst>
          </p:cNvPr>
          <p:cNvSpPr txBox="1"/>
          <p:nvPr/>
        </p:nvSpPr>
        <p:spPr>
          <a:xfrm>
            <a:off x="6466861" y="3556654"/>
            <a:ext cx="112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action (item)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8B50D5-C78D-4248-BF04-8D7A243091FA}"/>
              </a:ext>
            </a:extLst>
          </p:cNvPr>
          <p:cNvSpPr txBox="1"/>
          <p:nvPr/>
        </p:nvSpPr>
        <p:spPr>
          <a:xfrm>
            <a:off x="6533257" y="3184305"/>
            <a:ext cx="819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resource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4F34F5-4848-47DE-87CF-326839EA863A}"/>
              </a:ext>
            </a:extLst>
          </p:cNvPr>
          <p:cNvSpPr txBox="1"/>
          <p:nvPr/>
        </p:nvSpPr>
        <p:spPr>
          <a:xfrm>
            <a:off x="6523410" y="3792185"/>
            <a:ext cx="819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resource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E69029-54AF-4F26-A1B4-E50AFE82FC63}"/>
              </a:ext>
            </a:extLst>
          </p:cNvPr>
          <p:cNvSpPr txBox="1"/>
          <p:nvPr/>
        </p:nvSpPr>
        <p:spPr>
          <a:xfrm>
            <a:off x="8248654" y="3053418"/>
            <a:ext cx="1301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ServiceRequest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3B57A0-2435-4D9E-BAB1-57CC62D075E4}"/>
              </a:ext>
            </a:extLst>
          </p:cNvPr>
          <p:cNvSpPr txBox="1"/>
          <p:nvPr/>
        </p:nvSpPr>
        <p:spPr>
          <a:xfrm>
            <a:off x="8054316" y="3654620"/>
            <a:ext cx="1607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MedicationRequest</a:t>
            </a:r>
            <a:endParaRPr lang="en-US" sz="1400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CC500F8-7E17-4F53-B849-9F6D307BFFDA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2645229" y="3198909"/>
            <a:ext cx="570195" cy="6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E6FE3B8-7414-4154-B780-6F6DDD6766BD}"/>
              </a:ext>
            </a:extLst>
          </p:cNvPr>
          <p:cNvCxnSpPr/>
          <p:nvPr/>
        </p:nvCxnSpPr>
        <p:spPr>
          <a:xfrm flipV="1">
            <a:off x="2645229" y="3831765"/>
            <a:ext cx="570195" cy="6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1F1269B-B1BA-416C-8280-ADBF533A36BB}"/>
              </a:ext>
            </a:extLst>
          </p:cNvPr>
          <p:cNvCxnSpPr>
            <a:cxnSpLocks/>
          </p:cNvCxnSpPr>
          <p:nvPr/>
        </p:nvCxnSpPr>
        <p:spPr>
          <a:xfrm flipV="1">
            <a:off x="7587361" y="3209795"/>
            <a:ext cx="471964" cy="6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D92B762-DEAA-40E7-946B-FCF0F47740C1}"/>
              </a:ext>
            </a:extLst>
          </p:cNvPr>
          <p:cNvCxnSpPr>
            <a:cxnSpLocks/>
          </p:cNvCxnSpPr>
          <p:nvPr/>
        </p:nvCxnSpPr>
        <p:spPr>
          <a:xfrm flipV="1">
            <a:off x="7609397" y="3842651"/>
            <a:ext cx="449928" cy="6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50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166567" y="5999767"/>
            <a:ext cx="1655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Image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l="4460" t="2674" r="12316" b="2834"/>
          <a:stretch/>
        </p:blipFill>
        <p:spPr>
          <a:xfrm>
            <a:off x="2951585" y="284600"/>
            <a:ext cx="6288831" cy="628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9"/>
          <p:cNvGrpSpPr/>
          <p:nvPr/>
        </p:nvGrpSpPr>
        <p:grpSpPr>
          <a:xfrm>
            <a:off x="2759543" y="230268"/>
            <a:ext cx="6716496" cy="6866960"/>
            <a:chOff x="2069657" y="172701"/>
            <a:chExt cx="5037372" cy="5150220"/>
          </a:xfrm>
        </p:grpSpPr>
        <p:grpSp>
          <p:nvGrpSpPr>
            <p:cNvPr id="91" name="Google Shape;91;p19"/>
            <p:cNvGrpSpPr/>
            <p:nvPr/>
          </p:nvGrpSpPr>
          <p:grpSpPr>
            <a:xfrm>
              <a:off x="2069657" y="172701"/>
              <a:ext cx="5037372" cy="5150220"/>
              <a:chOff x="2069657" y="172701"/>
              <a:chExt cx="5037372" cy="5150220"/>
            </a:xfrm>
          </p:grpSpPr>
          <p:grpSp>
            <p:nvGrpSpPr>
              <p:cNvPr id="92" name="Google Shape;92;p19"/>
              <p:cNvGrpSpPr/>
              <p:nvPr/>
            </p:nvGrpSpPr>
            <p:grpSpPr>
              <a:xfrm>
                <a:off x="2151781" y="172701"/>
                <a:ext cx="4955248" cy="5150220"/>
                <a:chOff x="4408792" y="172701"/>
                <a:chExt cx="4955248" cy="5150220"/>
              </a:xfrm>
            </p:grpSpPr>
            <p:sp>
              <p:nvSpPr>
                <p:cNvPr id="93" name="Google Shape;93;p19"/>
                <p:cNvSpPr/>
                <p:nvPr/>
              </p:nvSpPr>
              <p:spPr>
                <a:xfrm>
                  <a:off x="4742875" y="746400"/>
                  <a:ext cx="3886200" cy="3886200"/>
                </a:xfrm>
                <a:prstGeom prst="ellipse">
                  <a:avLst/>
                </a:prstGeom>
                <a:noFill/>
                <a:ln w="11150" cap="flat" cmpd="sng">
                  <a:solidFill>
                    <a:schemeClr val="dk2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42300" tIns="142300" rIns="142300" bIns="142300" anchor="ctr" anchorCtr="0">
                  <a:noAutofit/>
                </a:bodyPr>
                <a:lstStyle/>
                <a:p>
                  <a:pPr algn="ctr"/>
                  <a:endParaRPr sz="2179"/>
                </a:p>
              </p:txBody>
            </p:sp>
            <p:sp>
              <p:nvSpPr>
                <p:cNvPr id="94" name="Google Shape;94;p19"/>
                <p:cNvSpPr/>
                <p:nvPr/>
              </p:nvSpPr>
              <p:spPr>
                <a:xfrm>
                  <a:off x="4857175" y="860700"/>
                  <a:ext cx="3657600" cy="3657600"/>
                </a:xfrm>
                <a:prstGeom prst="flowChartOr">
                  <a:avLst/>
                </a:prstGeom>
                <a:solidFill>
                  <a:srgbClr val="C0CCE0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endParaRPr sz="2400"/>
                </a:p>
              </p:txBody>
            </p:sp>
            <p:sp>
              <p:nvSpPr>
                <p:cNvPr id="95" name="Google Shape;95;p19"/>
                <p:cNvSpPr/>
                <p:nvPr/>
              </p:nvSpPr>
              <p:spPr>
                <a:xfrm flipH="1">
                  <a:off x="4857187" y="854784"/>
                  <a:ext cx="3657600" cy="36576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CAD1D8"/>
                </a:solidFill>
                <a:ln w="297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39100" tIns="339100" rIns="339100" bIns="339100" anchor="ctr" anchorCtr="0">
                  <a:noAutofit/>
                </a:bodyPr>
                <a:lstStyle/>
                <a:p>
                  <a:pPr algn="ctr"/>
                  <a:endParaRPr sz="5192"/>
                </a:p>
              </p:txBody>
            </p:sp>
            <p:sp>
              <p:nvSpPr>
                <p:cNvPr id="96" name="Google Shape;96;p19"/>
                <p:cNvSpPr/>
                <p:nvPr/>
              </p:nvSpPr>
              <p:spPr>
                <a:xfrm rot="10800000" flipH="1">
                  <a:off x="4857186" y="860709"/>
                  <a:ext cx="3657600" cy="36576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E4EDDB"/>
                </a:solidFill>
                <a:ln w="297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39100" tIns="339100" rIns="339100" bIns="339100" anchor="ctr" anchorCtr="0">
                  <a:noAutofit/>
                </a:bodyPr>
                <a:lstStyle/>
                <a:p>
                  <a:pPr algn="ctr"/>
                  <a:endParaRPr sz="5192"/>
                </a:p>
              </p:txBody>
            </p:sp>
            <p:sp>
              <p:nvSpPr>
                <p:cNvPr id="97" name="Google Shape;97;p19"/>
                <p:cNvSpPr/>
                <p:nvPr/>
              </p:nvSpPr>
              <p:spPr>
                <a:xfrm rot="10800000">
                  <a:off x="4857187" y="860709"/>
                  <a:ext cx="3657600" cy="36576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FEE1D3"/>
                </a:solidFill>
                <a:ln w="297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339100" tIns="339100" rIns="339100" bIns="339100" anchor="ctr" anchorCtr="0">
                  <a:noAutofit/>
                </a:bodyPr>
                <a:lstStyle/>
                <a:p>
                  <a:pPr algn="ctr"/>
                  <a:endParaRPr sz="5192"/>
                </a:p>
              </p:txBody>
            </p:sp>
            <p:sp>
              <p:nvSpPr>
                <p:cNvPr id="98" name="Google Shape;98;p19"/>
                <p:cNvSpPr/>
                <p:nvPr/>
              </p:nvSpPr>
              <p:spPr>
                <a:xfrm>
                  <a:off x="5085775" y="1089300"/>
                  <a:ext cx="3200400" cy="3200400"/>
                </a:xfrm>
                <a:prstGeom prst="flowChartOr">
                  <a:avLst/>
                </a:prstGeom>
                <a:solidFill>
                  <a:srgbClr val="305698"/>
                </a:solidFill>
                <a:ln w="250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6667" tIns="106667" rIns="106667" bIns="106667" anchor="ctr" anchorCtr="0">
                  <a:noAutofit/>
                </a:bodyPr>
                <a:lstStyle/>
                <a:p>
                  <a:pPr algn="ctr"/>
                  <a:endParaRPr sz="1632"/>
                </a:p>
              </p:txBody>
            </p:sp>
            <p:sp>
              <p:nvSpPr>
                <p:cNvPr id="99" name="Google Shape;99;p19"/>
                <p:cNvSpPr/>
                <p:nvPr/>
              </p:nvSpPr>
              <p:spPr>
                <a:xfrm flipH="1">
                  <a:off x="5085787" y="1089309"/>
                  <a:ext cx="3200400" cy="32004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1F295B"/>
                </a:solidFill>
                <a:ln w="26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96733" tIns="296733" rIns="296733" bIns="296733" anchor="ctr" anchorCtr="0">
                  <a:noAutofit/>
                </a:bodyPr>
                <a:lstStyle/>
                <a:p>
                  <a:pPr algn="ctr"/>
                  <a:endParaRPr sz="4543"/>
                </a:p>
              </p:txBody>
            </p:sp>
            <p:sp>
              <p:nvSpPr>
                <p:cNvPr id="100" name="Google Shape;100;p19"/>
                <p:cNvSpPr/>
                <p:nvPr/>
              </p:nvSpPr>
              <p:spPr>
                <a:xfrm rot="10800000" flipH="1">
                  <a:off x="5085786" y="1089309"/>
                  <a:ext cx="3200400" cy="32004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71AD49"/>
                </a:solidFill>
                <a:ln w="26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96733" tIns="296733" rIns="296733" bIns="296733" anchor="ctr" anchorCtr="0">
                  <a:noAutofit/>
                </a:bodyPr>
                <a:lstStyle/>
                <a:p>
                  <a:pPr algn="ctr"/>
                  <a:endParaRPr sz="4543"/>
                </a:p>
              </p:txBody>
            </p:sp>
            <p:sp>
              <p:nvSpPr>
                <p:cNvPr id="101" name="Google Shape;101;p19"/>
                <p:cNvSpPr/>
                <p:nvPr/>
              </p:nvSpPr>
              <p:spPr>
                <a:xfrm rot="10800000">
                  <a:off x="5085787" y="1083384"/>
                  <a:ext cx="3200400" cy="3200400"/>
                </a:xfrm>
                <a:prstGeom prst="pie">
                  <a:avLst>
                    <a:gd name="adj1" fmla="val 10768123"/>
                    <a:gd name="adj2" fmla="val 16200000"/>
                  </a:avLst>
                </a:prstGeom>
                <a:solidFill>
                  <a:srgbClr val="EE7B2F"/>
                </a:solidFill>
                <a:ln w="26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296733" tIns="296733" rIns="296733" bIns="296733" anchor="ctr" anchorCtr="0">
                  <a:noAutofit/>
                </a:bodyPr>
                <a:lstStyle/>
                <a:p>
                  <a:pPr algn="ctr"/>
                  <a:endParaRPr sz="4543"/>
                </a:p>
              </p:txBody>
            </p:sp>
            <p:pic>
              <p:nvPicPr>
                <p:cNvPr id="102" name="Google Shape;102;p19" title="EBM (1).png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5540875" y="1538475"/>
                  <a:ext cx="2290200" cy="2290200"/>
                </a:xfrm>
                <a:prstGeom prst="ellipse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3" name="Google Shape;103;p19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 rot="1769116">
                  <a:off x="4927740" y="910274"/>
                  <a:ext cx="2861725" cy="28617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4" name="Google Shape;104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 rot="6693886">
                  <a:off x="5773310" y="913823"/>
                  <a:ext cx="2527642" cy="252764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5" name="Google Shape;105;p19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029044">
                  <a:off x="5238118" y="2466140"/>
                  <a:ext cx="3624800" cy="20188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6" name="Google Shape;106;p19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 rot="-7729510">
                  <a:off x="5542292" y="1232118"/>
                  <a:ext cx="3708895" cy="206571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7" name="Google Shape;107;p19"/>
              <p:cNvSpPr txBox="1"/>
              <p:nvPr/>
            </p:nvSpPr>
            <p:spPr>
              <a:xfrm rot="18002361">
                <a:off x="2857100" y="1967627"/>
                <a:ext cx="803644" cy="153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en" sz="1333">
                    <a:solidFill>
                      <a:schemeClr val="lt1"/>
                    </a:solidFill>
                  </a:rPr>
                  <a:t>Measurement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08" name="Google Shape;108;p19"/>
              <p:cNvSpPr txBox="1"/>
              <p:nvPr/>
            </p:nvSpPr>
            <p:spPr>
              <a:xfrm rot="20399580">
                <a:off x="3642409" y="1372598"/>
                <a:ext cx="553291" cy="153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en" sz="1333">
                    <a:solidFill>
                      <a:schemeClr val="lt1"/>
                    </a:solidFill>
                  </a:rPr>
                  <a:t>Analysis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09" name="Google Shape;109;p19"/>
              <p:cNvSpPr txBox="1"/>
              <p:nvPr/>
            </p:nvSpPr>
            <p:spPr>
              <a:xfrm rot="1193697">
                <a:off x="4649927" y="1372599"/>
                <a:ext cx="632977" cy="153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en" sz="1333">
                    <a:solidFill>
                      <a:schemeClr val="lt1"/>
                    </a:solidFill>
                  </a:rPr>
                  <a:t>Guidelines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0" name="Google Shape;110;p19"/>
              <p:cNvSpPr txBox="1"/>
              <p:nvPr/>
            </p:nvSpPr>
            <p:spPr>
              <a:xfrm rot="3598626">
                <a:off x="5337240" y="1900018"/>
                <a:ext cx="582796" cy="3076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Decision</a:t>
                </a:r>
                <a:endParaRPr sz="1333">
                  <a:solidFill>
                    <a:schemeClr val="lt1"/>
                  </a:solidFill>
                </a:endParaRPr>
              </a:p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Support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1" name="Google Shape;111;p19"/>
              <p:cNvSpPr txBox="1"/>
              <p:nvPr/>
            </p:nvSpPr>
            <p:spPr>
              <a:xfrm rot="1193697">
                <a:off x="3588541" y="3850856"/>
                <a:ext cx="632977" cy="153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en" sz="1333">
                    <a:solidFill>
                      <a:schemeClr val="lt1"/>
                    </a:solidFill>
                  </a:rPr>
                  <a:t>Collection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2" name="Google Shape;112;p19"/>
              <p:cNvSpPr txBox="1"/>
              <p:nvPr/>
            </p:nvSpPr>
            <p:spPr>
              <a:xfrm rot="3598626">
                <a:off x="2952757" y="3228270"/>
                <a:ext cx="582796" cy="153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Reporting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3" name="Google Shape;113;p19"/>
              <p:cNvSpPr txBox="1"/>
              <p:nvPr/>
            </p:nvSpPr>
            <p:spPr>
              <a:xfrm rot="18000994">
                <a:off x="5169158" y="3116484"/>
                <a:ext cx="918140" cy="3076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Workflow</a:t>
                </a:r>
                <a:endParaRPr sz="1333">
                  <a:solidFill>
                    <a:schemeClr val="lt1"/>
                  </a:solidFill>
                </a:endParaRPr>
              </a:p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Implementation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4" name="Google Shape;114;p19"/>
              <p:cNvSpPr txBox="1"/>
              <p:nvPr/>
            </p:nvSpPr>
            <p:spPr>
              <a:xfrm rot="20399580">
                <a:off x="4686624" y="3787167"/>
                <a:ext cx="553291" cy="3076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Clinical</a:t>
                </a:r>
                <a:endParaRPr sz="1333">
                  <a:solidFill>
                    <a:schemeClr val="lt1"/>
                  </a:solidFill>
                </a:endParaRPr>
              </a:p>
              <a:p>
                <a:pPr algn="ctr"/>
                <a:r>
                  <a:rPr lang="en" sz="1333">
                    <a:solidFill>
                      <a:schemeClr val="lt1"/>
                    </a:solidFill>
                  </a:rPr>
                  <a:t>Care</a:t>
                </a:r>
                <a:endParaRPr sz="1333">
                  <a:solidFill>
                    <a:schemeClr val="lt1"/>
                  </a:solidFill>
                </a:endParaRPr>
              </a:p>
            </p:txBody>
          </p:sp>
          <p:sp>
            <p:nvSpPr>
              <p:cNvPr id="115" name="Google Shape;115;p19"/>
              <p:cNvSpPr/>
              <p:nvPr/>
            </p:nvSpPr>
            <p:spPr>
              <a:xfrm rot="5400000">
                <a:off x="4343136" y="702075"/>
                <a:ext cx="91500" cy="915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2000" tIns="112000" rIns="112000" bIns="112000" anchor="ctr" anchorCtr="0">
                <a:noAutofit/>
              </a:bodyPr>
              <a:lstStyle/>
              <a:p>
                <a:pPr algn="ctr"/>
                <a:endParaRPr sz="1716"/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 rot="10800000">
                <a:off x="6326363" y="2583344"/>
                <a:ext cx="91500" cy="915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2000" tIns="112000" rIns="112000" bIns="112000" anchor="ctr" anchorCtr="0">
                <a:noAutofit/>
              </a:bodyPr>
              <a:lstStyle/>
              <a:p>
                <a:pPr algn="ctr"/>
                <a:endParaRPr sz="1716"/>
              </a:p>
            </p:txBody>
          </p:sp>
          <p:sp>
            <p:nvSpPr>
              <p:cNvPr id="117" name="Google Shape;117;p19"/>
              <p:cNvSpPr/>
              <p:nvPr/>
            </p:nvSpPr>
            <p:spPr>
              <a:xfrm rot="-5400000" flipH="1">
                <a:off x="4418193" y="4584446"/>
                <a:ext cx="91500" cy="91500"/>
              </a:xfrm>
              <a:prstGeom prst="triangle">
                <a:avLst>
                  <a:gd name="adj" fmla="val 50000"/>
                </a:avLst>
              </a:pr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2000" tIns="112000" rIns="112000" bIns="112000" anchor="ctr" anchorCtr="0">
                <a:noAutofit/>
              </a:bodyPr>
              <a:lstStyle/>
              <a:p>
                <a:pPr algn="ctr"/>
                <a:endParaRPr sz="1716"/>
              </a:p>
            </p:txBody>
          </p:sp>
          <p:pic>
            <p:nvPicPr>
              <p:cNvPr id="118" name="Google Shape;118;p19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 rot="6898124">
                <a:off x="3891347" y="1671880"/>
                <a:ext cx="3200360" cy="17815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9" name="Google Shape;119;p19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 rot="-765429">
                <a:off x="2069657" y="1028243"/>
                <a:ext cx="3198703" cy="17815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" name="Google Shape;120;p19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 rot="-5890520">
                <a:off x="3799275" y="2316050"/>
                <a:ext cx="3198702" cy="17815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1" name="Google Shape;121;p19" title="EBM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3291667" y="1539771"/>
              <a:ext cx="2286000" cy="2286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22" name="Google Shape;122;p19"/>
            <p:cNvSpPr txBox="1"/>
            <p:nvPr/>
          </p:nvSpPr>
          <p:spPr>
            <a:xfrm rot="21596460">
              <a:off x="4003728" y="3244542"/>
              <a:ext cx="582600" cy="12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" sz="1067">
                  <a:solidFill>
                    <a:srgbClr val="808080"/>
                  </a:solidFill>
                </a:rPr>
                <a:t>Patient</a:t>
              </a:r>
              <a:endParaRPr sz="1067">
                <a:solidFill>
                  <a:srgbClr val="808080"/>
                </a:solidFill>
              </a:endParaRPr>
            </a:p>
          </p:txBody>
        </p:sp>
        <p:sp>
          <p:nvSpPr>
            <p:cNvPr id="123" name="Google Shape;123;p19"/>
            <p:cNvSpPr txBox="1"/>
            <p:nvPr/>
          </p:nvSpPr>
          <p:spPr>
            <a:xfrm rot="21596460">
              <a:off x="4586328" y="3060357"/>
              <a:ext cx="582600" cy="12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" sz="1067">
                  <a:solidFill>
                    <a:srgbClr val="808080"/>
                  </a:solidFill>
                </a:rPr>
                <a:t>Provider</a:t>
              </a:r>
              <a:endParaRPr sz="1067">
                <a:solidFill>
                  <a:srgbClr val="808080"/>
                </a:solidFill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 rot="21596460">
              <a:off x="3743260" y="2228200"/>
              <a:ext cx="582600" cy="12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" sz="1067">
                  <a:solidFill>
                    <a:srgbClr val="808080"/>
                  </a:solidFill>
                </a:rPr>
                <a:t>Population</a:t>
              </a:r>
              <a:endParaRPr sz="1067">
                <a:solidFill>
                  <a:srgbClr val="808080"/>
                </a:solidFill>
              </a:endParaRPr>
            </a:p>
          </p:txBody>
        </p:sp>
        <p:sp>
          <p:nvSpPr>
            <p:cNvPr id="125" name="Google Shape;125;p19"/>
            <p:cNvSpPr txBox="1"/>
            <p:nvPr/>
          </p:nvSpPr>
          <p:spPr>
            <a:xfrm rot="21596460">
              <a:off x="4421602" y="2063498"/>
              <a:ext cx="582600" cy="12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" sz="1067">
                  <a:solidFill>
                    <a:srgbClr val="808080"/>
                  </a:solidFill>
                </a:rPr>
                <a:t>Public</a:t>
              </a:r>
              <a:endParaRPr sz="1067">
                <a:solidFill>
                  <a:srgbClr val="808080"/>
                </a:solidFill>
              </a:endParaRPr>
            </a:p>
          </p:txBody>
        </p:sp>
      </p:grpSp>
      <p:sp>
        <p:nvSpPr>
          <p:cNvPr id="126" name="Google Shape;126;p19"/>
          <p:cNvSpPr txBox="1"/>
          <p:nvPr/>
        </p:nvSpPr>
        <p:spPr>
          <a:xfrm>
            <a:off x="176100" y="6095267"/>
            <a:ext cx="1655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Editable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6350</TotalTime>
  <Words>645</Words>
  <Application>Microsoft Office PowerPoint</Application>
  <PresentationFormat>Widescreen</PresentationFormat>
  <Paragraphs>272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Sharing via Services</vt:lpstr>
      <vt:lpstr>PowerPoint Presentation</vt:lpstr>
      <vt:lpstr>Service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</dc:creator>
  <cp:lastModifiedBy>Bryn</cp:lastModifiedBy>
  <cp:revision>28</cp:revision>
  <dcterms:created xsi:type="dcterms:W3CDTF">2016-03-18T21:24:23Z</dcterms:created>
  <dcterms:modified xsi:type="dcterms:W3CDTF">2025-11-05T07:47:05Z</dcterms:modified>
</cp:coreProperties>
</file>