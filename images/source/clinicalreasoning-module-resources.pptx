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4834" r:id="rId9"/>
    <p:sldId id="263" r:id="rId10"/>
    <p:sldId id="265" r:id="rId11"/>
    <p:sldId id="267" r:id="rId12"/>
    <p:sldId id="266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8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85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25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86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57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3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9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10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-Column Text">
  <p:cSld name="1-Column 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14"/>
          <p:cNvCxnSpPr/>
          <p:nvPr/>
        </p:nvCxnSpPr>
        <p:spPr>
          <a:xfrm>
            <a:off x="609600" y="275167"/>
            <a:ext cx="0" cy="1043517"/>
          </a:xfrm>
          <a:prstGeom prst="straightConnector1">
            <a:avLst/>
          </a:prstGeom>
          <a:noFill/>
          <a:ln w="412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818196" y="274639"/>
            <a:ext cx="10972800" cy="1043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>
                <a:solidFill>
                  <a:srgbClr val="EC2227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819150" y="1513192"/>
            <a:ext cx="10971844" cy="4501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200"/>
            </a:lvl1pPr>
            <a:lvl2pPr marL="1219170" lvl="1" indent="-474121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667"/>
            </a:lvl2pPr>
            <a:lvl3pPr marL="1828754" lvl="2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400"/>
            </a:lvl3pPr>
            <a:lvl4pPr marL="2438339" lvl="3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2400"/>
            </a:lvl4pPr>
            <a:lvl5pPr marL="3047924" lvl="4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2400"/>
            </a:lvl5pPr>
            <a:lvl6pPr marL="3657509" lvl="5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40" name="Google Shape;4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95818" y="6231467"/>
            <a:ext cx="706967" cy="3831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" name="Google Shape;41;p14"/>
          <p:cNvCxnSpPr/>
          <p:nvPr/>
        </p:nvCxnSpPr>
        <p:spPr>
          <a:xfrm>
            <a:off x="1305984" y="6184900"/>
            <a:ext cx="0" cy="510117"/>
          </a:xfrm>
          <a:prstGeom prst="straightConnector1">
            <a:avLst/>
          </a:prstGeom>
          <a:noFill/>
          <a:ln w="9525" cap="flat" cmpd="sng">
            <a:solidFill>
              <a:srgbClr val="3D3029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" name="Google Shape;42;p14"/>
          <p:cNvCxnSpPr/>
          <p:nvPr/>
        </p:nvCxnSpPr>
        <p:spPr>
          <a:xfrm>
            <a:off x="10174816" y="6389683"/>
            <a:ext cx="459317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3" name="Google Shape;43;p14"/>
          <p:cNvSpPr txBox="1">
            <a:spLocks noGrp="1"/>
          </p:cNvSpPr>
          <p:nvPr>
            <p:ph type="ftr" idx="11"/>
          </p:nvPr>
        </p:nvSpPr>
        <p:spPr>
          <a:xfrm>
            <a:off x="1600201" y="6390217"/>
            <a:ext cx="6040967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sldNum" idx="12"/>
          </p:nvPr>
        </p:nvSpPr>
        <p:spPr>
          <a:xfrm>
            <a:off x="10217150" y="6411413"/>
            <a:ext cx="361951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5" name="Google Shape;4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5957" y="6036324"/>
            <a:ext cx="445587" cy="6586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9673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06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131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619947" y="2054711"/>
            <a:ext cx="3905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41233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131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80790" y="300317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/>
          <p:cNvSpPr/>
          <p:nvPr/>
        </p:nvSpPr>
        <p:spPr>
          <a:xfrm rot="10800000">
            <a:off x="4980790" y="336355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0589" y="4747730"/>
            <a:ext cx="4383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Conversation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80790" y="369526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ight Arrow 21"/>
          <p:cNvSpPr/>
          <p:nvPr/>
        </p:nvSpPr>
        <p:spPr>
          <a:xfrm rot="10800000">
            <a:off x="4980790" y="405564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40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Radiology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64131" y="683109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Guideline Appropriate Ordering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22174" y="2049334"/>
            <a:ext cx="59005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</p:txBody>
      </p:sp>
    </p:spTree>
    <p:extLst>
      <p:ext uri="{BB962C8B-B14F-4D97-AF65-F5344CB8AC3E}">
        <p14:creationId xmlns:p14="http://schemas.microsoft.com/office/powerpoint/2010/main" val="3820213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700167" y="2764716"/>
            <a:ext cx="590057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  <a:p>
            <a:pPr marL="342900" indent="-342900">
              <a:buAutoNum type="arabicPeriod"/>
            </a:pPr>
            <a:r>
              <a:rPr lang="en-US" dirty="0"/>
              <a:t>If the service indicates that more information is needed to obtain a more accurate assessment, the clinician is prompted to provide the information, and the request is repeated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9110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92008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8667" y="100225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/>
          <p:cNvSpPr/>
          <p:nvPr/>
        </p:nvSpPr>
        <p:spPr>
          <a:xfrm rot="10800000">
            <a:off x="4808667" y="136263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/>
          <p:cNvSpPr/>
          <p:nvPr/>
        </p:nvSpPr>
        <p:spPr>
          <a:xfrm>
            <a:off x="4808667" y="169434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ight Arrow 13"/>
          <p:cNvSpPr/>
          <p:nvPr/>
        </p:nvSpPr>
        <p:spPr>
          <a:xfrm rot="10800000">
            <a:off x="4808667" y="205472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3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59859" y="839096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4597" y="839095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691256" y="108652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6691256" y="144690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4582757" y="839095"/>
            <a:ext cx="2108499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Publish/Subscribe Service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99416" y="108831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10800000">
            <a:off x="3399416" y="144869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113876" y="2207122"/>
            <a:ext cx="7046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Asynchronous, Indirect Guidance using Event Publish/Subscribe Service</a:t>
            </a:r>
          </a:p>
        </p:txBody>
      </p:sp>
    </p:spTree>
    <p:extLst>
      <p:ext uri="{BB962C8B-B14F-4D97-AF65-F5344CB8AC3E}">
        <p14:creationId xmlns:p14="http://schemas.microsoft.com/office/powerpoint/2010/main" val="2744828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798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with Internal CDS Engine</a:t>
            </a:r>
          </a:p>
        </p:txBody>
      </p:sp>
      <p:sp>
        <p:nvSpPr>
          <p:cNvPr id="3" name="Flowchart: Multidocument 2"/>
          <p:cNvSpPr/>
          <p:nvPr/>
        </p:nvSpPr>
        <p:spPr>
          <a:xfrm>
            <a:off x="5400338" y="2705546"/>
            <a:ext cx="1065007" cy="1247887"/>
          </a:xfrm>
          <a:prstGeom prst="flowChartMultidocumen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42008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CDS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19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Health Dataset w/ Analytics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9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9810" y="1229959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and Content Vendors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0859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Hospitals and Institutions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91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Medical Societies and Associations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296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Agencies</a:t>
            </a:r>
          </a:p>
        </p:txBody>
      </p:sp>
      <p:cxnSp>
        <p:nvCxnSpPr>
          <p:cNvPr id="13" name="Straight Arrow Connector 12"/>
          <p:cNvCxnSpPr>
            <a:stCxn id="8" idx="2"/>
            <a:endCxn id="3" idx="0"/>
          </p:cNvCxnSpPr>
          <p:nvPr/>
        </p:nvCxnSpPr>
        <p:spPr>
          <a:xfrm>
            <a:off x="2945801" y="2144359"/>
            <a:ext cx="3060309" cy="561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9" idx="2"/>
            <a:endCxn id="3" idx="0"/>
          </p:cNvCxnSpPr>
          <p:nvPr/>
        </p:nvCxnSpPr>
        <p:spPr>
          <a:xfrm>
            <a:off x="5066850" y="2142565"/>
            <a:ext cx="939260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0" idx="2"/>
            <a:endCxn id="3" idx="0"/>
          </p:cNvCxnSpPr>
          <p:nvPr/>
        </p:nvCxnSpPr>
        <p:spPr>
          <a:xfrm flipH="1">
            <a:off x="6006110" y="2142565"/>
            <a:ext cx="118179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1" idx="2"/>
            <a:endCxn id="3" idx="0"/>
          </p:cNvCxnSpPr>
          <p:nvPr/>
        </p:nvCxnSpPr>
        <p:spPr>
          <a:xfrm flipH="1">
            <a:off x="6006110" y="2142565"/>
            <a:ext cx="330284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3" idx="2"/>
            <a:endCxn id="2" idx="0"/>
          </p:cNvCxnSpPr>
          <p:nvPr/>
        </p:nvCxnSpPr>
        <p:spPr>
          <a:xfrm flipH="1">
            <a:off x="2945801" y="3906175"/>
            <a:ext cx="291298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3" idx="2"/>
            <a:endCxn id="5" idx="0"/>
          </p:cNvCxnSpPr>
          <p:nvPr/>
        </p:nvCxnSpPr>
        <p:spPr>
          <a:xfrm flipH="1">
            <a:off x="5066851" y="3906175"/>
            <a:ext cx="79193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3" idx="2"/>
            <a:endCxn id="6" idx="0"/>
          </p:cNvCxnSpPr>
          <p:nvPr/>
        </p:nvCxnSpPr>
        <p:spPr>
          <a:xfrm>
            <a:off x="5858784" y="3906175"/>
            <a:ext cx="132911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3" idx="2"/>
            <a:endCxn id="7" idx="0"/>
          </p:cNvCxnSpPr>
          <p:nvPr/>
        </p:nvCxnSpPr>
        <p:spPr>
          <a:xfrm>
            <a:off x="5858784" y="3906175"/>
            <a:ext cx="345016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53895" y="673270"/>
            <a:ext cx="195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Content Producers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6119" y="5815660"/>
            <a:ext cx="2033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Content Consumers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9810" y="3143942"/>
            <a:ext cx="3043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Shareable Knowledge Artifacts</a:t>
            </a:r>
          </a:p>
        </p:txBody>
      </p:sp>
    </p:spTree>
    <p:extLst>
      <p:ext uri="{BB962C8B-B14F-4D97-AF65-F5344CB8AC3E}">
        <p14:creationId xmlns:p14="http://schemas.microsoft.com/office/powerpoint/2010/main" val="321244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20762" y="473336"/>
            <a:ext cx="7680961" cy="5400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20762" y="473336"/>
            <a:ext cx="4367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1976" y="946674"/>
            <a:ext cx="7379747" cy="34729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021976" y="946673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7737" y="1398494"/>
            <a:ext cx="7013986" cy="14845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387736" y="1420010"/>
            <a:ext cx="2753957" cy="369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7736" y="3028341"/>
            <a:ext cx="7013987" cy="13913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387736" y="3057871"/>
            <a:ext cx="310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Stratifiers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11220" y="4559627"/>
            <a:ext cx="7390504" cy="13140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011219" y="4574614"/>
            <a:ext cx="319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Supplemental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189336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 Pop.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64946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0034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 Exclusions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2" y="1854789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Numerator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53120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Range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59568" y="3505631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15614" y="4982233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4564" y="4976334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Deceased</a:t>
            </a:r>
          </a:p>
        </p:txBody>
      </p:sp>
    </p:spTree>
    <p:extLst>
      <p:ext uri="{BB962C8B-B14F-4D97-AF65-F5344CB8AC3E}">
        <p14:creationId xmlns:p14="http://schemas.microsoft.com/office/powerpoint/2010/main" val="3620492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2983543" y="645458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- Summary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682175" y="23039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09881" y="24671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8725" y="23270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7189" y="24902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7088" y="3125522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3619" y="330789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8199" y="313788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28357" y="329530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500</a:t>
            </a:r>
          </a:p>
        </p:txBody>
      </p:sp>
    </p:spTree>
    <p:extLst>
      <p:ext uri="{BB962C8B-B14F-4D97-AF65-F5344CB8AC3E}">
        <p14:creationId xmlns:p14="http://schemas.microsoft.com/office/powerpoint/2010/main" val="969764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FC2662-DD98-4B7A-9B1F-56136E83E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DFBD5-C309-4526-9B37-B97348992ABE}" type="slidenum">
              <a:rPr lang="en-US" smtClean="0"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DFF93-8ADF-4D5D-AA2D-219FB695E0E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9200" y="274638"/>
            <a:ext cx="10972800" cy="1042987"/>
          </a:xfrm>
        </p:spPr>
        <p:txBody>
          <a:bodyPr/>
          <a:lstStyle/>
          <a:p>
            <a:r>
              <a:rPr lang="en-US" dirty="0"/>
              <a:t>Sharing via Services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D500F0-822E-4887-996D-E0C1B2D3CE16}"/>
              </a:ext>
            </a:extLst>
          </p:cNvPr>
          <p:cNvSpPr/>
          <p:nvPr/>
        </p:nvSpPr>
        <p:spPr>
          <a:xfrm>
            <a:off x="4918039" y="2670585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Terminology Service(s) (e.g. VSAC)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D916B2-B479-4E3C-A4AA-B27FBB73CDD5}"/>
              </a:ext>
            </a:extLst>
          </p:cNvPr>
          <p:cNvSpPr/>
          <p:nvPr/>
        </p:nvSpPr>
        <p:spPr>
          <a:xfrm>
            <a:off x="4918037" y="3880033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Knowledge Repository(s)</a:t>
            </a:r>
          </a:p>
          <a:p>
            <a:pPr algn="ctr"/>
            <a:r>
              <a:rPr lang="en-US" sz="1400" dirty="0"/>
              <a:t>(e.g. CDS Connect)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41695E-59A8-43EB-AF30-1B56D59F1EEB}"/>
              </a:ext>
            </a:extLst>
          </p:cNvPr>
          <p:cNvSpPr txBox="1"/>
          <p:nvPr/>
        </p:nvSpPr>
        <p:spPr>
          <a:xfrm>
            <a:off x="1599871" y="1745960"/>
            <a:ext cx="1653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Authoring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535BF8-FC79-4433-92D6-02912E8CAACD}"/>
              </a:ext>
            </a:extLst>
          </p:cNvPr>
          <p:cNvSpPr txBox="1"/>
          <p:nvPr/>
        </p:nvSpPr>
        <p:spPr>
          <a:xfrm>
            <a:off x="5218995" y="1735726"/>
            <a:ext cx="1754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Publishing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5524D0-4BA1-4B76-91BD-72C0E4748682}"/>
              </a:ext>
            </a:extLst>
          </p:cNvPr>
          <p:cNvSpPr txBox="1"/>
          <p:nvPr/>
        </p:nvSpPr>
        <p:spPr>
          <a:xfrm>
            <a:off x="8814079" y="1735726"/>
            <a:ext cx="1739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8B9A0-7AAB-4384-BDF2-6C8591AC7D0A}"/>
              </a:ext>
            </a:extLst>
          </p:cNvPr>
          <p:cNvSpPr/>
          <p:nvPr/>
        </p:nvSpPr>
        <p:spPr>
          <a:xfrm>
            <a:off x="8530913" y="241667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7A4464D-C72D-4CCE-BB4F-B2C5978A7A57}"/>
              </a:ext>
            </a:extLst>
          </p:cNvPr>
          <p:cNvSpPr/>
          <p:nvPr/>
        </p:nvSpPr>
        <p:spPr>
          <a:xfrm>
            <a:off x="8530913" y="3130473"/>
            <a:ext cx="2355923" cy="5753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Evaluation Services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648F83-1712-4848-B380-7F6556DFE7E2}"/>
              </a:ext>
            </a:extLst>
          </p:cNvPr>
          <p:cNvSpPr/>
          <p:nvPr/>
        </p:nvSpPr>
        <p:spPr>
          <a:xfrm>
            <a:off x="8530912" y="388003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EHRs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F97AF-7308-4D28-B346-6A53506C92E3}"/>
              </a:ext>
            </a:extLst>
          </p:cNvPr>
          <p:cNvSpPr/>
          <p:nvPr/>
        </p:nvSpPr>
        <p:spPr>
          <a:xfrm>
            <a:off x="8530912" y="4617411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SMART Apps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55211D6-5AAD-42BA-9CA8-BCB1331D9B18}"/>
              </a:ext>
            </a:extLst>
          </p:cNvPr>
          <p:cNvSpPr/>
          <p:nvPr/>
        </p:nvSpPr>
        <p:spPr>
          <a:xfrm>
            <a:off x="8530912" y="535478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 Services Applications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64392EB-926E-4EAA-80B6-F90EEF4239E9}"/>
              </a:ext>
            </a:extLst>
          </p:cNvPr>
          <p:cNvSpPr/>
          <p:nvPr/>
        </p:nvSpPr>
        <p:spPr>
          <a:xfrm>
            <a:off x="8530911" y="6092165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F281B9-846F-4577-AB5C-39AAE038E0F9}"/>
              </a:ext>
            </a:extLst>
          </p:cNvPr>
          <p:cNvSpPr/>
          <p:nvPr/>
        </p:nvSpPr>
        <p:spPr>
          <a:xfrm>
            <a:off x="1305165" y="241556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Guideline Development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A963F1A-A865-4F93-BCA0-DAC09B46115C}"/>
              </a:ext>
            </a:extLst>
          </p:cNvPr>
          <p:cNvSpPr/>
          <p:nvPr/>
        </p:nvSpPr>
        <p:spPr>
          <a:xfrm>
            <a:off x="1305165" y="3127786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Developers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AD59F0-6C0B-4D05-8FD3-62276AFEB66B}"/>
              </a:ext>
            </a:extLst>
          </p:cNvPr>
          <p:cNvSpPr/>
          <p:nvPr/>
        </p:nvSpPr>
        <p:spPr>
          <a:xfrm>
            <a:off x="1298913" y="384000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Authors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F9E13F8-BB7C-4E6E-A8AB-DA7AB30CE925}"/>
              </a:ext>
            </a:extLst>
          </p:cNvPr>
          <p:cNvSpPr/>
          <p:nvPr/>
        </p:nvSpPr>
        <p:spPr>
          <a:xfrm>
            <a:off x="1298913" y="5278378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Professional Societies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914A8F-548D-48A3-91D6-C687965ABBF0}"/>
              </a:ext>
            </a:extLst>
          </p:cNvPr>
          <p:cNvSpPr/>
          <p:nvPr/>
        </p:nvSpPr>
        <p:spPr>
          <a:xfrm>
            <a:off x="1298913" y="454541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Quality Improvement Agencies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BD9A0F9-2FC7-4B76-9FE4-5748BBD0D754}"/>
              </a:ext>
            </a:extLst>
          </p:cNvPr>
          <p:cNvSpPr/>
          <p:nvPr/>
        </p:nvSpPr>
        <p:spPr>
          <a:xfrm>
            <a:off x="1298913" y="5989319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18575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2983543" y="645458"/>
            <a:ext cx="2216075" cy="4525706"/>
            <a:chOff x="3078480" y="645457"/>
            <a:chExt cx="2216075" cy="4525706"/>
          </a:xfrm>
        </p:grpSpPr>
        <p:grpSp>
          <p:nvGrpSpPr>
            <p:cNvPr id="54" name="Group 5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28" name="Rectangle 27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29" name="TextBox 28"/>
                <p:cNvSpPr txBox="1"/>
                <p:nvPr/>
              </p:nvSpPr>
              <p:spPr>
                <a:xfrm>
                  <a:off x="3078480" y="645457"/>
                  <a:ext cx="22160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MeasureReport</a:t>
                  </a:r>
                  <a:r>
                    <a:rPr lang="en-US" sz="1200" dirty="0"/>
                    <a:t> - Individual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3304939" y="905698"/>
                  <a:ext cx="1989615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 Group</a:t>
                  </a:r>
                </a:p>
              </p:txBody>
            </p:sp>
            <p:sp>
              <p:nvSpPr>
                <p:cNvPr id="32" name="Rectangle 31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579927" y="1165939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Populations</a:t>
                  </a:r>
                </a:p>
              </p:txBody>
            </p:sp>
            <p:sp>
              <p:nvSpPr>
                <p:cNvPr id="34" name="Rectangle 33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5" name="TextBox 34"/>
                <p:cNvSpPr txBox="1"/>
                <p:nvPr/>
              </p:nvSpPr>
              <p:spPr>
                <a:xfrm>
                  <a:off x="3579927" y="2066437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Stratifiers</a:t>
                  </a:r>
                  <a:endParaRPr lang="en-US" sz="1200" dirty="0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7" name="TextBox 36"/>
                <p:cNvSpPr txBox="1"/>
                <p:nvPr/>
              </p:nvSpPr>
              <p:spPr>
                <a:xfrm>
                  <a:off x="3296852" y="2900343"/>
                  <a:ext cx="1997702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Supplemental Data</a:t>
                  </a:r>
                </a:p>
              </p:txBody>
            </p:sp>
            <p:sp>
              <p:nvSpPr>
                <p:cNvPr id="38" name="Rounded Rectangle 37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39" name="Rounded Rectangle 38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40" name="Rounded Rectangle 39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1" name="Rounded Rectangle 40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2" name="Rounded Rectangle 41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3" name="Rounded Rectangle 42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</p:grpSp>
          <p:sp>
            <p:nvSpPr>
              <p:cNvPr id="45" name="Oval 4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</p:grpSp>
        <p:sp>
          <p:nvSpPr>
            <p:cNvPr id="55" name="Flowchart: Multidocument 54"/>
            <p:cNvSpPr/>
            <p:nvPr/>
          </p:nvSpPr>
          <p:spPr>
            <a:xfrm>
              <a:off x="3693908" y="4052842"/>
              <a:ext cx="1060704" cy="1118321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Resources</a:t>
              </a:r>
              <a:endParaRPr lang="en-US" dirty="0"/>
            </a:p>
          </p:txBody>
        </p:sp>
        <p:cxnSp>
          <p:nvCxnSpPr>
            <p:cNvPr id="57" name="Straight Arrow Connector 56"/>
            <p:cNvCxnSpPr>
              <a:stCxn id="36" idx="2"/>
              <a:endCxn id="55" idx="0"/>
            </p:cNvCxnSpPr>
            <p:nvPr/>
          </p:nvCxnSpPr>
          <p:spPr>
            <a:xfrm>
              <a:off x="4295704" y="3614568"/>
              <a:ext cx="1529" cy="4382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9480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/>
          <p:cNvGrpSpPr/>
          <p:nvPr/>
        </p:nvGrpSpPr>
        <p:grpSpPr>
          <a:xfrm>
            <a:off x="1961567" y="516366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– Patient-Listing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660199" y="21748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7905" y="23380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6749" y="21979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5213" y="23611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112" y="299643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21643" y="317880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16223" y="300879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06381" y="316621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500</a:t>
            </a:r>
          </a:p>
        </p:txBody>
      </p:sp>
      <p:grpSp>
        <p:nvGrpSpPr>
          <p:cNvPr id="55" name="Group 54"/>
          <p:cNvGrpSpPr/>
          <p:nvPr/>
        </p:nvGrpSpPr>
        <p:grpSpPr>
          <a:xfrm>
            <a:off x="5157452" y="3313342"/>
            <a:ext cx="1317268" cy="2880992"/>
            <a:chOff x="3078480" y="645457"/>
            <a:chExt cx="2216075" cy="4525704"/>
          </a:xfrm>
        </p:grpSpPr>
        <p:grpSp>
          <p:nvGrpSpPr>
            <p:cNvPr id="57" name="Group 56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66" name="Group 65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75" name="Rectangle 74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76" name="TextBox 75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77" name="Rectangle 76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78" name="TextBox 77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0" name="TextBox 79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2" name="TextBox 81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85" name="Rounded Rectangle 84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6" name="Rounded Rectangle 85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7" name="Rounded Rectangle 86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8" name="Rounded Rectangle 87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9" name="Rounded Rectangle 88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90" name="Rounded Rectangle 89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67" name="Oval 66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64" name="Flowchart: Multidocument 63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65" name="Straight Arrow Connector 64"/>
            <p:cNvCxnSpPr>
              <a:stCxn id="83" idx="2"/>
              <a:endCxn id="64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/>
          <p:cNvGrpSpPr/>
          <p:nvPr/>
        </p:nvGrpSpPr>
        <p:grpSpPr>
          <a:xfrm>
            <a:off x="6621035" y="3301373"/>
            <a:ext cx="1317268" cy="2880992"/>
            <a:chOff x="3078480" y="645457"/>
            <a:chExt cx="2216075" cy="4525704"/>
          </a:xfrm>
        </p:grpSpPr>
        <p:grpSp>
          <p:nvGrpSpPr>
            <p:cNvPr id="121" name="Group 120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124" name="Group 12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133" name="Rectangle 132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4" name="TextBox 133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135" name="Rectangle 134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36" name="TextBox 135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137" name="Rectangle 136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8" name="TextBox 137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139" name="Rectangle 138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0" name="TextBox 139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141" name="Rectangle 140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2" name="TextBox 141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143" name="Rounded Rectangle 142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4" name="Rounded Rectangle 143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5" name="Rounded Rectangle 144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6" name="Rounded Rectangle 145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7" name="Rounded Rectangle 146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8" name="Rounded Rectangle 147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125" name="Oval 12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6" name="Oval 125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7" name="Oval 126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8" name="Oval 127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9" name="Oval 128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30" name="Oval 129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1" name="Oval 130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2" name="Oval 131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122" name="Flowchart: Multidocument 121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123" name="Straight Arrow Connector 122"/>
            <p:cNvCxnSpPr>
              <a:stCxn id="141" idx="2"/>
              <a:endCxn id="122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101760" y="3959162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10296" y="1348316"/>
            <a:ext cx="844174" cy="3784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IPOP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7933" y="1343126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510485" y="2191309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Male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536856" y="1334641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NUM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973374" y="2204163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Female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64335" y="1283983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81030" y="2062596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cxnSp>
        <p:nvCxnSpPr>
          <p:cNvPr id="46" name="Elbow Connector 45"/>
          <p:cNvCxnSpPr>
            <a:stCxn id="33" idx="3"/>
            <a:endCxn id="18" idx="0"/>
          </p:cNvCxnSpPr>
          <p:nvPr/>
        </p:nvCxnSpPr>
        <p:spPr>
          <a:xfrm>
            <a:off x="4177642" y="1157816"/>
            <a:ext cx="1054741" cy="1905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Elbow Connector 156"/>
          <p:cNvCxnSpPr>
            <a:stCxn id="33" idx="3"/>
            <a:endCxn id="149" idx="0"/>
          </p:cNvCxnSpPr>
          <p:nvPr/>
        </p:nvCxnSpPr>
        <p:spPr>
          <a:xfrm>
            <a:off x="4177642" y="1157816"/>
            <a:ext cx="2422378" cy="1853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Elbow Connector 158"/>
          <p:cNvCxnSpPr>
            <a:stCxn id="33" idx="3"/>
            <a:endCxn id="151" idx="0"/>
          </p:cNvCxnSpPr>
          <p:nvPr/>
        </p:nvCxnSpPr>
        <p:spPr>
          <a:xfrm>
            <a:off x="4177642" y="1157816"/>
            <a:ext cx="3781301" cy="1768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Elbow Connector 179"/>
          <p:cNvCxnSpPr>
            <a:stCxn id="18" idx="2"/>
            <a:endCxn id="76" idx="0"/>
          </p:cNvCxnSpPr>
          <p:nvPr/>
        </p:nvCxnSpPr>
        <p:spPr>
          <a:xfrm rot="16200000" flipH="1">
            <a:off x="4730941" y="2228197"/>
            <a:ext cx="1586586" cy="583703"/>
          </a:xfrm>
          <a:prstGeom prst="bentConnector3">
            <a:avLst>
              <a:gd name="adj1" fmla="val 8390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Elbow Connector 205"/>
          <p:cNvCxnSpPr>
            <a:stCxn id="18" idx="2"/>
            <a:endCxn id="134" idx="0"/>
          </p:cNvCxnSpPr>
          <p:nvPr/>
        </p:nvCxnSpPr>
        <p:spPr>
          <a:xfrm rot="16200000" flipH="1">
            <a:off x="5468718" y="1490421"/>
            <a:ext cx="1574617" cy="2047286"/>
          </a:xfrm>
          <a:prstGeom prst="bentConnector3">
            <a:avLst>
              <a:gd name="adj1" fmla="val 766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/>
          <p:cNvCxnSpPr>
            <a:stCxn id="151" idx="2"/>
          </p:cNvCxnSpPr>
          <p:nvPr/>
        </p:nvCxnSpPr>
        <p:spPr>
          <a:xfrm rot="5400000">
            <a:off x="7013192" y="2336525"/>
            <a:ext cx="1557226" cy="334277"/>
          </a:xfrm>
          <a:prstGeom prst="bentConnector3">
            <a:avLst>
              <a:gd name="adj1" fmla="val 6658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/>
          <p:cNvCxnSpPr>
            <a:stCxn id="152" idx="2"/>
          </p:cNvCxnSpPr>
          <p:nvPr/>
        </p:nvCxnSpPr>
        <p:spPr>
          <a:xfrm flipH="1">
            <a:off x="7385435" y="2543797"/>
            <a:ext cx="10026" cy="769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Arrow Connector 214"/>
          <p:cNvCxnSpPr>
            <a:stCxn id="150" idx="2"/>
          </p:cNvCxnSpPr>
          <p:nvPr/>
        </p:nvCxnSpPr>
        <p:spPr>
          <a:xfrm flipH="1">
            <a:off x="5921852" y="2530943"/>
            <a:ext cx="10720" cy="770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Elbow Connector 216"/>
          <p:cNvCxnSpPr>
            <a:stCxn id="149" idx="2"/>
          </p:cNvCxnSpPr>
          <p:nvPr/>
        </p:nvCxnSpPr>
        <p:spPr>
          <a:xfrm rot="5400000">
            <a:off x="5603350" y="2308119"/>
            <a:ext cx="1571254" cy="422087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Elbow Connector 218"/>
          <p:cNvCxnSpPr>
            <a:stCxn id="149" idx="2"/>
          </p:cNvCxnSpPr>
          <p:nvPr/>
        </p:nvCxnSpPr>
        <p:spPr>
          <a:xfrm rot="16200000" flipH="1">
            <a:off x="6013917" y="2319638"/>
            <a:ext cx="1571254" cy="399048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Elbow Connector 241"/>
          <p:cNvCxnSpPr>
            <a:stCxn id="35" idx="3"/>
            <a:endCxn id="150" idx="0"/>
          </p:cNvCxnSpPr>
          <p:nvPr/>
        </p:nvCxnSpPr>
        <p:spPr>
          <a:xfrm>
            <a:off x="4177642" y="2058314"/>
            <a:ext cx="1754930" cy="1329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Elbow Connector 243"/>
          <p:cNvCxnSpPr>
            <a:stCxn id="35" idx="3"/>
            <a:endCxn id="152" idx="0"/>
          </p:cNvCxnSpPr>
          <p:nvPr/>
        </p:nvCxnSpPr>
        <p:spPr>
          <a:xfrm>
            <a:off x="4177642" y="2058314"/>
            <a:ext cx="3217819" cy="1458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197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/>
          <p:cNvSpPr/>
          <p:nvPr/>
        </p:nvSpPr>
        <p:spPr>
          <a:xfrm>
            <a:off x="1086523" y="591670"/>
            <a:ext cx="3238052" cy="3151991"/>
          </a:xfrm>
          <a:prstGeom prst="round1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/>
          <p:cNvSpPr/>
          <p:nvPr/>
        </p:nvSpPr>
        <p:spPr>
          <a:xfrm>
            <a:off x="1269403" y="1043492"/>
            <a:ext cx="2883049" cy="2560320"/>
          </a:xfrm>
          <a:prstGeom prst="round1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6522" y="591671"/>
            <a:ext cx="2237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Knowledge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9403" y="1043492"/>
            <a:ext cx="2775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Components</a:t>
            </a:r>
          </a:p>
        </p:txBody>
      </p:sp>
      <p:sp>
        <p:nvSpPr>
          <p:cNvPr id="6" name="Round Single Corner Rectangle 5"/>
          <p:cNvSpPr/>
          <p:nvPr/>
        </p:nvSpPr>
        <p:spPr>
          <a:xfrm>
            <a:off x="1463041" y="1559859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10" name="Round Single Corner Rectangle 9"/>
          <p:cNvSpPr/>
          <p:nvPr/>
        </p:nvSpPr>
        <p:spPr>
          <a:xfrm>
            <a:off x="1463040" y="2223261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sp>
        <p:nvSpPr>
          <p:cNvPr id="11" name="Round Single Corner Rectangle 10"/>
          <p:cNvSpPr/>
          <p:nvPr/>
        </p:nvSpPr>
        <p:spPr>
          <a:xfrm>
            <a:off x="1463040" y="2929692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Structure</a:t>
            </a:r>
          </a:p>
        </p:txBody>
      </p:sp>
    </p:spTree>
    <p:extLst>
      <p:ext uri="{BB962C8B-B14F-4D97-AF65-F5344CB8AC3E}">
        <p14:creationId xmlns:p14="http://schemas.microsoft.com/office/powerpoint/2010/main" val="3296970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53374" y="25818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64254" y="258184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7294" y="25818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0334" y="258184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96693" y="258184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301214" y="1151122"/>
            <a:ext cx="1828800" cy="3065931"/>
            <a:chOff x="46619" y="1323189"/>
            <a:chExt cx="1828800" cy="3065931"/>
          </a:xfrm>
        </p:grpSpPr>
        <p:sp>
          <p:nvSpPr>
            <p:cNvPr id="7" name="Round Single Corner Rectangle 6"/>
            <p:cNvSpPr/>
            <p:nvPr/>
          </p:nvSpPr>
          <p:spPr>
            <a:xfrm>
              <a:off x="4661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61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Library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7252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72528" y="2255501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54601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54600" y="3290048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6619" y="4952100"/>
            <a:ext cx="1828800" cy="3065931"/>
            <a:chOff x="2101329" y="1323189"/>
            <a:chExt cx="1828800" cy="3065931"/>
          </a:xfrm>
        </p:grpSpPr>
        <p:sp>
          <p:nvSpPr>
            <p:cNvPr id="11" name="Round Single Corner Rectangle 10"/>
            <p:cNvSpPr/>
            <p:nvPr/>
          </p:nvSpPr>
          <p:spPr>
            <a:xfrm>
              <a:off x="210132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10132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DSS Module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32723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325447" y="2251963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325446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325445" y="3291817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325444" y="3829733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2337995" y="1148427"/>
            <a:ext cx="1828800" cy="3042631"/>
            <a:chOff x="4156039" y="1346489"/>
            <a:chExt cx="1828800" cy="3042631"/>
          </a:xfrm>
        </p:grpSpPr>
        <p:sp>
          <p:nvSpPr>
            <p:cNvPr id="14" name="Round Single Corner Rectangle 13"/>
            <p:cNvSpPr/>
            <p:nvPr/>
          </p:nvSpPr>
          <p:spPr>
            <a:xfrm>
              <a:off x="4156039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56039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 Rule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381948" y="174722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381948" y="2777289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381948" y="2274332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381947" y="3290048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4365810" y="1148427"/>
            <a:ext cx="1828800" cy="3065931"/>
            <a:chOff x="6210749" y="1323189"/>
            <a:chExt cx="1828800" cy="3065931"/>
          </a:xfrm>
        </p:grpSpPr>
        <p:sp>
          <p:nvSpPr>
            <p:cNvPr id="17" name="Round Single Corner Rectangle 16"/>
            <p:cNvSpPr/>
            <p:nvPr/>
          </p:nvSpPr>
          <p:spPr>
            <a:xfrm>
              <a:off x="621074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21074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Doc Template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3665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436659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6393625" y="1148426"/>
            <a:ext cx="1828800" cy="3042631"/>
            <a:chOff x="8297732" y="1346489"/>
            <a:chExt cx="1828800" cy="3042631"/>
          </a:xfrm>
        </p:grpSpPr>
        <p:sp>
          <p:nvSpPr>
            <p:cNvPr id="20" name="Round Single Corner Rectangle 19"/>
            <p:cNvSpPr/>
            <p:nvPr/>
          </p:nvSpPr>
          <p:spPr>
            <a:xfrm>
              <a:off x="8297732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97732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Order Set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523642" y="17588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523641" y="2274332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523640" y="2790699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8450128" y="1148427"/>
            <a:ext cx="1828800" cy="3065931"/>
            <a:chOff x="10352442" y="1323189"/>
            <a:chExt cx="1828800" cy="3065931"/>
          </a:xfrm>
        </p:grpSpPr>
        <p:sp>
          <p:nvSpPr>
            <p:cNvPr id="23" name="Round Single Corner Rectangle 22"/>
            <p:cNvSpPr/>
            <p:nvPr/>
          </p:nvSpPr>
          <p:spPr>
            <a:xfrm>
              <a:off x="10352442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352442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Measure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578352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574767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0621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1210" y="271092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213" y="871369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212" y="148455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211" y="2097739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210" y="3324109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</p:spTree>
    <p:extLst>
      <p:ext uri="{BB962C8B-B14F-4D97-AF65-F5344CB8AC3E}">
        <p14:creationId xmlns:p14="http://schemas.microsoft.com/office/powerpoint/2010/main" val="19309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08536E-412B-404E-88CC-84D06AC2D0A2}"/>
              </a:ext>
            </a:extLst>
          </p:cNvPr>
          <p:cNvSpPr/>
          <p:nvPr/>
        </p:nvSpPr>
        <p:spPr>
          <a:xfrm>
            <a:off x="1349829" y="2275114"/>
            <a:ext cx="1621971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D8DDCE-5D32-4D8F-895D-E963E4AEDD2D}"/>
              </a:ext>
            </a:extLst>
          </p:cNvPr>
          <p:cNvSpPr/>
          <p:nvPr/>
        </p:nvSpPr>
        <p:spPr>
          <a:xfrm>
            <a:off x="1534886" y="2590800"/>
            <a:ext cx="1240971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E2BD22-4B23-4CDE-AD0B-12E6FA773F80}"/>
              </a:ext>
            </a:extLst>
          </p:cNvPr>
          <p:cNvSpPr/>
          <p:nvPr/>
        </p:nvSpPr>
        <p:spPr>
          <a:xfrm>
            <a:off x="1665514" y="2982686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995E3-2293-4DD5-BA6F-7963E4492612}"/>
              </a:ext>
            </a:extLst>
          </p:cNvPr>
          <p:cNvSpPr/>
          <p:nvPr/>
        </p:nvSpPr>
        <p:spPr>
          <a:xfrm>
            <a:off x="1665514" y="3592285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A1A03F-7238-4852-98A6-368C17717848}"/>
              </a:ext>
            </a:extLst>
          </p:cNvPr>
          <p:cNvSpPr/>
          <p:nvPr/>
        </p:nvSpPr>
        <p:spPr>
          <a:xfrm>
            <a:off x="3215424" y="2975752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8235E-5682-4B3B-BA59-6754001A7D31}"/>
              </a:ext>
            </a:extLst>
          </p:cNvPr>
          <p:cNvSpPr/>
          <p:nvPr/>
        </p:nvSpPr>
        <p:spPr>
          <a:xfrm>
            <a:off x="3215424" y="3585351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C8F3A77E-8565-41F2-8BCB-347D55B64FDB}"/>
              </a:ext>
            </a:extLst>
          </p:cNvPr>
          <p:cNvSpPr/>
          <p:nvPr/>
        </p:nvSpPr>
        <p:spPr>
          <a:xfrm>
            <a:off x="4931047" y="3361195"/>
            <a:ext cx="1012372" cy="288472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B01806-1B9E-408A-976F-2C93794E0228}"/>
              </a:ext>
            </a:extLst>
          </p:cNvPr>
          <p:cNvSpPr txBox="1"/>
          <p:nvPr/>
        </p:nvSpPr>
        <p:spPr>
          <a:xfrm>
            <a:off x="1349829" y="2273624"/>
            <a:ext cx="1223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PlanDefinition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6079D1-B488-433E-B0B3-E8260CE15F96}"/>
              </a:ext>
            </a:extLst>
          </p:cNvPr>
          <p:cNvSpPr txBox="1"/>
          <p:nvPr/>
        </p:nvSpPr>
        <p:spPr>
          <a:xfrm>
            <a:off x="1534886" y="260019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F634C0-549C-45E3-8EDB-BEAC7178ACFE}"/>
              </a:ext>
            </a:extLst>
          </p:cNvPr>
          <p:cNvSpPr txBox="1"/>
          <p:nvPr/>
        </p:nvSpPr>
        <p:spPr>
          <a:xfrm>
            <a:off x="1603648" y="294211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0CD6E9-F17B-4154-9304-AEB4CC8EA97F}"/>
              </a:ext>
            </a:extLst>
          </p:cNvPr>
          <p:cNvSpPr txBox="1"/>
          <p:nvPr/>
        </p:nvSpPr>
        <p:spPr>
          <a:xfrm>
            <a:off x="1631001" y="355814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BE706D-7658-4FBA-8FA7-8EB0084E1498}"/>
              </a:ext>
            </a:extLst>
          </p:cNvPr>
          <p:cNvSpPr txBox="1"/>
          <p:nvPr/>
        </p:nvSpPr>
        <p:spPr>
          <a:xfrm>
            <a:off x="1697397" y="318579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A0C798-3FDE-47BF-BD54-2C762139CEFF}"/>
              </a:ext>
            </a:extLst>
          </p:cNvPr>
          <p:cNvSpPr txBox="1"/>
          <p:nvPr/>
        </p:nvSpPr>
        <p:spPr>
          <a:xfrm>
            <a:off x="1687550" y="379367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068B62-C80F-4EFD-A627-C80869E555CC}"/>
              </a:ext>
            </a:extLst>
          </p:cNvPr>
          <p:cNvSpPr txBox="1"/>
          <p:nvPr/>
        </p:nvSpPr>
        <p:spPr>
          <a:xfrm>
            <a:off x="3215424" y="3045020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2DA4C1-869D-49F5-AB9A-3755260CFF4E}"/>
              </a:ext>
            </a:extLst>
          </p:cNvPr>
          <p:cNvSpPr txBox="1"/>
          <p:nvPr/>
        </p:nvSpPr>
        <p:spPr>
          <a:xfrm>
            <a:off x="3215424" y="3654619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E3B915-B297-49E6-B9A2-363B1759D62F}"/>
              </a:ext>
            </a:extLst>
          </p:cNvPr>
          <p:cNvSpPr/>
          <p:nvPr/>
        </p:nvSpPr>
        <p:spPr>
          <a:xfrm>
            <a:off x="6185689" y="2273624"/>
            <a:ext cx="1751475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231ABE-339F-472D-A498-A5486AC5DC45}"/>
              </a:ext>
            </a:extLst>
          </p:cNvPr>
          <p:cNvSpPr/>
          <p:nvPr/>
        </p:nvSpPr>
        <p:spPr>
          <a:xfrm>
            <a:off x="6370746" y="2589310"/>
            <a:ext cx="1406570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C0B47F-A4F9-4A75-A250-B91DAB809D21}"/>
              </a:ext>
            </a:extLst>
          </p:cNvPr>
          <p:cNvSpPr/>
          <p:nvPr/>
        </p:nvSpPr>
        <p:spPr>
          <a:xfrm>
            <a:off x="6501374" y="2981196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DF2A93-854B-45C8-9220-F58219E2CB70}"/>
              </a:ext>
            </a:extLst>
          </p:cNvPr>
          <p:cNvSpPr/>
          <p:nvPr/>
        </p:nvSpPr>
        <p:spPr>
          <a:xfrm>
            <a:off x="6501374" y="3590795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DD126D3-7897-4703-BCA3-45086A8037D6}"/>
              </a:ext>
            </a:extLst>
          </p:cNvPr>
          <p:cNvSpPr/>
          <p:nvPr/>
        </p:nvSpPr>
        <p:spPr>
          <a:xfrm>
            <a:off x="8059634" y="2975752"/>
            <a:ext cx="1607875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D674899-6725-4B2A-B388-986E722C7B6A}"/>
              </a:ext>
            </a:extLst>
          </p:cNvPr>
          <p:cNvSpPr/>
          <p:nvPr/>
        </p:nvSpPr>
        <p:spPr>
          <a:xfrm>
            <a:off x="8054316" y="3585351"/>
            <a:ext cx="1607876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219CED-21CF-443B-BFFB-87C1052A02BB}"/>
              </a:ext>
            </a:extLst>
          </p:cNvPr>
          <p:cNvSpPr txBox="1"/>
          <p:nvPr/>
        </p:nvSpPr>
        <p:spPr>
          <a:xfrm>
            <a:off x="6185689" y="2272134"/>
            <a:ext cx="17806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RequestOrchestration</a:t>
            </a:r>
            <a:endParaRPr lang="en-US" sz="14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12367D-0F0F-4214-96CD-8976A684C8C8}"/>
              </a:ext>
            </a:extLst>
          </p:cNvPr>
          <p:cNvSpPr txBox="1"/>
          <p:nvPr/>
        </p:nvSpPr>
        <p:spPr>
          <a:xfrm>
            <a:off x="6370746" y="259870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47A12EA-9712-4CA2-98E5-791CD5A8896F}"/>
              </a:ext>
            </a:extLst>
          </p:cNvPr>
          <p:cNvSpPr txBox="1"/>
          <p:nvPr/>
        </p:nvSpPr>
        <p:spPr>
          <a:xfrm>
            <a:off x="6439508" y="294062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CC99F-8A8B-42FD-B710-AC69F78A44BE}"/>
              </a:ext>
            </a:extLst>
          </p:cNvPr>
          <p:cNvSpPr txBox="1"/>
          <p:nvPr/>
        </p:nvSpPr>
        <p:spPr>
          <a:xfrm>
            <a:off x="6466861" y="355665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48B50D5-C78D-4248-BF04-8D7A243091FA}"/>
              </a:ext>
            </a:extLst>
          </p:cNvPr>
          <p:cNvSpPr txBox="1"/>
          <p:nvPr/>
        </p:nvSpPr>
        <p:spPr>
          <a:xfrm>
            <a:off x="6533257" y="318430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4F34F5-4848-47DE-87CF-326839EA863A}"/>
              </a:ext>
            </a:extLst>
          </p:cNvPr>
          <p:cNvSpPr txBox="1"/>
          <p:nvPr/>
        </p:nvSpPr>
        <p:spPr>
          <a:xfrm>
            <a:off x="6523410" y="379218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7E69029-54AF-4F26-A1B4-E50AFE82FC63}"/>
              </a:ext>
            </a:extLst>
          </p:cNvPr>
          <p:cNvSpPr txBox="1"/>
          <p:nvPr/>
        </p:nvSpPr>
        <p:spPr>
          <a:xfrm>
            <a:off x="8248654" y="3053418"/>
            <a:ext cx="13017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ServiceRequest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3B57A0-2435-4D9E-BAB1-57CC62D075E4}"/>
              </a:ext>
            </a:extLst>
          </p:cNvPr>
          <p:cNvSpPr txBox="1"/>
          <p:nvPr/>
        </p:nvSpPr>
        <p:spPr>
          <a:xfrm>
            <a:off x="8054316" y="3654620"/>
            <a:ext cx="1607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MedicationRequest</a:t>
            </a:r>
            <a:endParaRPr lang="en-US" sz="1400" dirty="0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CC500F8-7E17-4F53-B849-9F6D307BFFDA}"/>
              </a:ext>
            </a:extLst>
          </p:cNvPr>
          <p:cNvCxnSpPr>
            <a:stCxn id="4" idx="3"/>
            <a:endCxn id="40" idx="1"/>
          </p:cNvCxnSpPr>
          <p:nvPr/>
        </p:nvCxnSpPr>
        <p:spPr>
          <a:xfrm flipV="1">
            <a:off x="2645229" y="3198909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E6FE3B8-7414-4154-B780-6F6DDD6766BD}"/>
              </a:ext>
            </a:extLst>
          </p:cNvPr>
          <p:cNvCxnSpPr/>
          <p:nvPr/>
        </p:nvCxnSpPr>
        <p:spPr>
          <a:xfrm flipV="1">
            <a:off x="2645229" y="3831765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1F1269B-B1BA-416C-8280-ADBF533A36BB}"/>
              </a:ext>
            </a:extLst>
          </p:cNvPr>
          <p:cNvCxnSpPr>
            <a:cxnSpLocks/>
          </p:cNvCxnSpPr>
          <p:nvPr/>
        </p:nvCxnSpPr>
        <p:spPr>
          <a:xfrm flipV="1">
            <a:off x="7587361" y="3209795"/>
            <a:ext cx="471964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D92B762-DEAA-40E7-946B-FCF0F47740C1}"/>
              </a:ext>
            </a:extLst>
          </p:cNvPr>
          <p:cNvCxnSpPr>
            <a:cxnSpLocks/>
          </p:cNvCxnSpPr>
          <p:nvPr/>
        </p:nvCxnSpPr>
        <p:spPr>
          <a:xfrm flipV="1">
            <a:off x="7609397" y="3842651"/>
            <a:ext cx="449928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5017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5711</TotalTime>
  <Words>505</Words>
  <Application>Microsoft Office PowerPoint</Application>
  <PresentationFormat>Widescreen</PresentationFormat>
  <Paragraphs>234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Sharing via Services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Bryn</dc:creator>
  <cp:lastModifiedBy>Bryn</cp:lastModifiedBy>
  <cp:revision>26</cp:revision>
  <dcterms:created xsi:type="dcterms:W3CDTF">2016-03-18T21:24:23Z</dcterms:created>
  <dcterms:modified xsi:type="dcterms:W3CDTF">2025-11-01T17:43:03Z</dcterms:modified>
</cp:coreProperties>
</file>